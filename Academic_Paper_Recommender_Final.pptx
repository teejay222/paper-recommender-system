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charts/chart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5.xml" ContentType="application/vnd.openxmlformats-officedocument.drawingml.chart+xml"/>
  <Override PartName="/ppt/notesSlides/notesSlide30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311" r:id="rId3"/>
    <p:sldId id="257" r:id="rId4"/>
    <p:sldId id="260" r:id="rId5"/>
    <p:sldId id="313" r:id="rId6"/>
    <p:sldId id="315" r:id="rId7"/>
    <p:sldId id="314" r:id="rId8"/>
    <p:sldId id="264" r:id="rId9"/>
    <p:sldId id="318" r:id="rId10"/>
    <p:sldId id="319" r:id="rId11"/>
    <p:sldId id="267" r:id="rId12"/>
    <p:sldId id="305" r:id="rId13"/>
    <p:sldId id="317" r:id="rId14"/>
    <p:sldId id="316" r:id="rId15"/>
    <p:sldId id="294" r:id="rId16"/>
    <p:sldId id="271" r:id="rId17"/>
    <p:sldId id="272" r:id="rId18"/>
    <p:sldId id="300" r:id="rId19"/>
    <p:sldId id="273" r:id="rId20"/>
    <p:sldId id="274" r:id="rId21"/>
    <p:sldId id="306" r:id="rId22"/>
    <p:sldId id="320" r:id="rId23"/>
    <p:sldId id="296" r:id="rId24"/>
    <p:sldId id="280" r:id="rId25"/>
    <p:sldId id="281" r:id="rId26"/>
    <p:sldId id="282" r:id="rId27"/>
    <p:sldId id="283" r:id="rId28"/>
    <p:sldId id="321" r:id="rId29"/>
    <p:sldId id="322" r:id="rId30"/>
    <p:sldId id="307" r:id="rId31"/>
    <p:sldId id="277" r:id="rId32"/>
    <p:sldId id="278" r:id="rId33"/>
    <p:sldId id="284" r:id="rId34"/>
    <p:sldId id="304" r:id="rId35"/>
    <p:sldId id="323" r:id="rId36"/>
    <p:sldId id="286" r:id="rId37"/>
    <p:sldId id="308" r:id="rId38"/>
    <p:sldId id="309" r:id="rId39"/>
    <p:sldId id="290" r:id="rId40"/>
    <p:sldId id="310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  <p:sldId id="335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0D9488"/>
    <a:srgbClr val="ED7D31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8C-461A-A168-94223F72D4E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58C-461A-A168-94223F72D4E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8C-461A-A168-94223F72D4E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8C-461A-A168-94223F72D4E4}"/>
              </c:ext>
            </c:extLst>
          </c:dPt>
          <c:dLbls>
            <c:dLbl>
              <c:idx val="0"/>
              <c:numFmt formatCode="0.000" sourceLinked="0"/>
              <c:spPr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58C-461A-A168-94223F72D4E4}"/>
                </c:ext>
              </c:extLst>
            </c:dLbl>
            <c:dLbl>
              <c:idx val="1"/>
              <c:numFmt formatCode="0.000" sourceLinked="0"/>
              <c:spPr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58C-461A-A168-94223F72D4E4}"/>
                </c:ext>
              </c:extLst>
            </c:dLbl>
            <c:numFmt formatCode="0.000" sourceLinked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3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SPECTER2
cosine</c:v>
                </c:pt>
                <c:pt idx="1">
                  <c:v>SPECTER2
euclidean</c:v>
                </c:pt>
                <c:pt idx="2">
                  <c:v>SciBERT
cosine</c:v>
                </c:pt>
                <c:pt idx="3">
                  <c:v>SciBERT
euclidean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0.12039999999999999</c:v>
                </c:pt>
                <c:pt idx="1">
                  <c:v>0.1205</c:v>
                </c:pt>
                <c:pt idx="2">
                  <c:v>5.0500000000000003E-2</c:v>
                </c:pt>
                <c:pt idx="3">
                  <c:v>4.7E-2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8C-461A-A168-94223F72D4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ln w="38100" cap="flat">
              <a:solidFill>
                <a:srgbClr val="1D7DF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7DF2"/>
              </a:solidFill>
              <a:ln w="9525" cap="flat">
                <a:solidFill>
                  <a:srgbClr val="1D7DF2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endParaRPr lang="en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0.05</c:v>
                </c:pt>
                <c:pt idx="5">
                  <c:v>0.10</c:v>
                </c:pt>
                <c:pt idx="6">
                  <c:v>0.20</c:v>
                </c:pt>
                <c:pt idx="7">
                  <c:v>0.30</c:v>
                </c:pt>
                <c:pt idx="8">
                  <c:v>0.50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0.12039999999999999</c:v>
                </c:pt>
                <c:pt idx="1">
                  <c:v>0.152</c:v>
                </c:pt>
                <c:pt idx="2">
                  <c:v>0.16259999999999999</c:v>
                </c:pt>
                <c:pt idx="3">
                  <c:v>0.1651</c:v>
                </c:pt>
                <c:pt idx="4">
                  <c:v>0.16569999999999999</c:v>
                </c:pt>
                <c:pt idx="5">
                  <c:v>0.1658</c:v>
                </c:pt>
                <c:pt idx="6">
                  <c:v>0.1658</c:v>
                </c:pt>
                <c:pt idx="7">
                  <c:v>0.1658</c:v>
                </c:pt>
                <c:pt idx="8">
                  <c:v>0.1658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34-4429-BDF0-175E2867478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lang="el-GR" sz="1000" b="0" i="0" u="none" strike="noStrike">
                    <a:solidFill>
                      <a:srgbClr val="5B6B82"/>
                    </a:solidFill>
                    <a:latin typeface="Arial"/>
                  </a:rPr>
                  <a:t>α (</a:t>
                </a:r>
                <a:r>
                  <a:rPr lang="en-US" sz="1000" b="0" i="0" u="none" strike="noStrike">
                    <a:solidFill>
                      <a:srgbClr val="5B6B82"/>
                    </a:solidFill>
                    <a:latin typeface="Arial"/>
                  </a:rPr>
                  <a:t>boost strength)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8"/>
          <c:min val="0.1"/>
        </c:scaling>
        <c:delete val="0"/>
        <c:axPos val="l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2EB8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FCFE-4AAF-AE17-181491CE6A3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FE-4AAF-AE17-181491CE6A3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FCFE-4AAF-AE17-181491CE6A33}"/>
              </c:ext>
            </c:extLst>
          </c:dPt>
          <c:dLbls>
            <c:dLbl>
              <c:idx val="0"/>
              <c:numFmt formatCode="0.000" sourceLinked="0"/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CFE-4AAF-AE17-181491CE6A33}"/>
                </c:ext>
              </c:extLst>
            </c:dLbl>
            <c:dLbl>
              <c:idx val="1"/>
              <c:numFmt formatCode="0.000" sourceLinked="0"/>
              <c:spPr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8BA0-4991-AF14-666603F29F34}"/>
                </c:ext>
              </c:extLst>
            </c:dLbl>
            <c:dLbl>
              <c:idx val="2"/>
              <c:numFmt formatCode="0.000" sourceLinked="0"/>
              <c:spPr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CFE-4AAF-AE17-181491CE6A33}"/>
                </c:ext>
              </c:extLst>
            </c:dLbl>
            <c:dLbl>
              <c:idx val="3"/>
              <c:numFmt formatCode="0.000" sourceLinked="0"/>
              <c:spPr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FCFE-4AAF-AE17-181491CE6A33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3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cs.CV</c:v>
                </c:pt>
                <c:pt idx="1">
                  <c:v>cs.LG</c:v>
                </c:pt>
                <c:pt idx="2">
                  <c:v>cs.CL</c:v>
                </c:pt>
                <c:pt idx="3">
                  <c:v>cs.AI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0.1842</c:v>
                </c:pt>
                <c:pt idx="1">
                  <c:v>0.14299999999999999</c:v>
                </c:pt>
                <c:pt idx="2">
                  <c:v>0.12039999999999999</c:v>
                </c:pt>
                <c:pt idx="3">
                  <c:v>9.6500000000000002E-2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09-42E3-8B9A-112457D3B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46-494E-84E4-A8BC7771203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46-494E-84E4-A8BC7771203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D46-494E-84E4-A8BC7771203A}"/>
              </c:ext>
            </c:extLst>
          </c:dPt>
          <c:dLbls>
            <c:dLbl>
              <c:idx val="0"/>
              <c:numFmt formatCode="0.000" sourceLinked="0"/>
              <c:spPr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D46-494E-84E4-A8BC7771203A}"/>
                </c:ext>
              </c:extLst>
            </c:dLbl>
            <c:dLbl>
              <c:idx val="1"/>
              <c:numFmt formatCode="0.000" sourceLinked="0"/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3"/>
                      </a:solidFill>
                      <a:latin typeface="Arial"/>
                    </a:defRPr>
                  </a:pPr>
                  <a:endParaRPr lang="en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D46-494E-84E4-A8BC7771203A}"/>
                </c:ext>
              </c:extLst>
            </c:dLbl>
            <c:numFmt formatCode="0.000" sourceLinked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3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boost
(α=0)</c:v>
                </c:pt>
                <c:pt idx="1">
                  <c:v>Soft boost
(α=0.03)</c:v>
                </c:pt>
                <c:pt idx="2">
                  <c:v>Category-
restricted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0.12039999999999999</c:v>
                </c:pt>
                <c:pt idx="1">
                  <c:v>0.1651</c:v>
                </c:pt>
                <c:pt idx="2">
                  <c:v>0.1658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46-494E-84E4-A8BC777120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SPECTER2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Lbls>
            <c:numFmt formatCode="0.00" sourceLinked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3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Keyword</c:v>
                </c:pt>
                <c:pt idx="1">
                  <c:v>Task</c:v>
                </c:pt>
                <c:pt idx="2">
                  <c:v>Problem</c:v>
                </c:pt>
                <c:pt idx="3">
                  <c:v>Natural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0.60499999999999998</c:v>
                </c:pt>
                <c:pt idx="1">
                  <c:v>0.39500000000000002</c:v>
                </c:pt>
                <c:pt idx="2">
                  <c:v>0.26900000000000002</c:v>
                </c:pt>
                <c:pt idx="3">
                  <c:v>0.70399999999999996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E2-4AE1-9A4F-C4273E988B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SciBERT</c:v>
                </c:pt>
              </c:strCache>
            </c:strRef>
          </c:tx>
          <c:spPr>
            <a:solidFill>
              <a:srgbClr val="FF8C00"/>
            </a:solidFill>
            <a:effectLst/>
          </c:spPr>
          <c:invertIfNegative val="0"/>
          <c:dLbls>
            <c:numFmt formatCode="0.00" sourceLinked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3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Keyword</c:v>
                </c:pt>
                <c:pt idx="1">
                  <c:v>Task</c:v>
                </c:pt>
                <c:pt idx="2">
                  <c:v>Problem</c:v>
                </c:pt>
                <c:pt idx="3">
                  <c:v>Natural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2.3E-2</c:v>
                </c:pt>
                <c:pt idx="1">
                  <c:v>2.7E-2</c:v>
                </c:pt>
                <c:pt idx="2">
                  <c:v>4.2000000000000003E-2</c:v>
                </c:pt>
                <c:pt idx="3">
                  <c:v>0.104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E2-4AE1-9A4F-C4273E988B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MRR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1.0</c:v>
                </c:pt>
                <c:pt idx="1">
                  <c:v>0.9</c:v>
                </c:pt>
                <c:pt idx="2">
                  <c:v>0.8</c:v>
                </c:pt>
                <c:pt idx="3">
                  <c:v>0.7</c:v>
                </c:pt>
                <c:pt idx="4">
                  <c:v>0.5</c:v>
                </c:pt>
                <c:pt idx="5">
                  <c:v>0.3</c:v>
                </c:pt>
                <c:pt idx="6">
                  <c:v>0.0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0.32900000000000001</c:v>
                </c:pt>
                <c:pt idx="1">
                  <c:v>0.33400000000000002</c:v>
                </c:pt>
                <c:pt idx="2">
                  <c:v>0.316</c:v>
                </c:pt>
                <c:pt idx="3">
                  <c:v>0.28100000000000003</c:v>
                </c:pt>
                <c:pt idx="4">
                  <c:v>0.17899999999999999</c:v>
                </c:pt>
                <c:pt idx="5">
                  <c:v>8.8999999999999996E-2</c:v>
                </c:pt>
                <c:pt idx="6">
                  <c:v>2.1999999999999999E-2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2-4B99-ADEF-EA025FDF7D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Natural-query MRR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1.0</c:v>
                </c:pt>
                <c:pt idx="1">
                  <c:v>0.9</c:v>
                </c:pt>
                <c:pt idx="2">
                  <c:v>0.8</c:v>
                </c:pt>
                <c:pt idx="3">
                  <c:v>0.7</c:v>
                </c:pt>
                <c:pt idx="4">
                  <c:v>0.5</c:v>
                </c:pt>
                <c:pt idx="5">
                  <c:v>0.3</c:v>
                </c:pt>
                <c:pt idx="6">
                  <c:v>0.0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0.52600000000000002</c:v>
                </c:pt>
                <c:pt idx="1">
                  <c:v>0.54300000000000004</c:v>
                </c:pt>
                <c:pt idx="2">
                  <c:v>0.52400000000000002</c:v>
                </c:pt>
                <c:pt idx="3">
                  <c:v>0.49</c:v>
                </c:pt>
                <c:pt idx="4">
                  <c:v>0.35</c:v>
                </c:pt>
                <c:pt idx="5">
                  <c:v>0.19</c:v>
                </c:pt>
                <c:pt idx="6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B2-4B99-ADEF-EA025FDF7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5B6B82"/>
                    </a:solidFill>
                    <a:latin typeface="Arial"/>
                    <a:ea typeface="+mn-ea"/>
                    <a:cs typeface="+mn-cs"/>
                  </a:defRPr>
                </a:pPr>
                <a:r>
                  <a:rPr lang="en-US" sz="1000" b="0" i="0" u="none" strike="noStrike">
                    <a:solidFill>
                      <a:srgbClr val="5B6B82"/>
                    </a:solidFill>
                    <a:latin typeface="Arial"/>
                  </a:rPr>
                  <a:t>weight on SPECTER2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5B6B82"/>
                  </a:solidFill>
                  <a:latin typeface="Arial"/>
                  <a:ea typeface="+mn-ea"/>
                  <a:cs typeface="+mn-cs"/>
                </a:defRPr>
              </a:pPr>
              <a:endParaRPr lang="en-DE"/>
            </a:p>
          </c:txPr>
        </c:title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5B6B82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EF2F7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5B6B82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5B6B8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101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03b22f741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f03b22f741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F1A5-0603-2320-23E5-9B9D2D97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E2E76-E8D0-5698-0E07-0F0ED3844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4F0BA-54D8-C59B-CB0C-A09FD9C30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A2A4A-13E4-F29E-1C7D-2AA59D1C4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13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4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</a:t>
            </a:r>
            <a:r>
              <a:rPr lang="en-US" sz="1700" b="1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</a:t>
            </a:r>
            <a:r>
              <a:rPr lang="en-US" sz="1700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</a:t>
            </a:r>
            <a:r>
              <a:rPr lang="en-US" sz="1700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hybrid embedding for content-based recommendation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B3A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39319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B3A5E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39319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B3A5E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39319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B3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39319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B3A5E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755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Tajamal Hussain | 106061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8DB86DF-83B2-A798-450B-8E5A47F36E62}"/>
              </a:ext>
            </a:extLst>
          </p:cNvPr>
          <p:cNvSpPr/>
          <p:nvPr/>
        </p:nvSpPr>
        <p:spPr>
          <a:xfrm>
            <a:off x="706755" y="12573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Academic Paper Recommendation System</a:t>
            </a:r>
            <a:endParaRPr lang="en-US" sz="3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0378"/>
            <a:ext cx="8001000" cy="72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6197"/>
            <a:ext cx="8001000" cy="72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2016"/>
            <a:ext cx="8001000" cy="72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27834"/>
            <a:ext cx="8001000" cy="72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244" y="1623975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244" y="2459794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244" y="3295613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244" y="4131431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7636669" y="1711889"/>
            <a:ext cx="70008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 dirty="0">
                <a:solidFill>
                  <a:srgbClr val="86868B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answered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7636669" y="2547707"/>
            <a:ext cx="70008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 dirty="0">
                <a:solidFill>
                  <a:srgbClr val="86868B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answered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636669" y="3383526"/>
            <a:ext cx="70008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 dirty="0">
                <a:solidFill>
                  <a:srgbClr val="86868B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answered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7636669" y="4219345"/>
            <a:ext cx="70008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900" dirty="0">
                <a:solidFill>
                  <a:srgbClr val="86868B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answered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1378744" y="1598972"/>
            <a:ext cx="6105763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dirty="0">
                <a:solidFill>
                  <a:srgbClr val="1D1D1F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Which scientific embedding best powers a content-based recommender?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1378744" y="1813284"/>
            <a:ext cx="581501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i="1" dirty="0">
                <a:solidFill>
                  <a:srgbClr val="86868B"/>
                </a:solidFill>
                <a:ea typeface="Inter"/>
                <a:cs typeface="Inter"/>
                <a:sym typeface="Inter"/>
              </a:rPr>
              <a:t>SPECTER2 vs </a:t>
            </a:r>
            <a:r>
              <a:rPr lang="en-US" sz="1013" i="1" dirty="0" err="1">
                <a:solidFill>
                  <a:srgbClr val="86868B"/>
                </a:solidFill>
                <a:ea typeface="Inter"/>
                <a:cs typeface="Inter"/>
                <a:sym typeface="Inter"/>
              </a:rPr>
              <a:t>SciBERT</a:t>
            </a:r>
            <a:r>
              <a:rPr lang="en-US" sz="1013" i="1" dirty="0">
                <a:solidFill>
                  <a:srgbClr val="86868B"/>
                </a:solidFill>
                <a:ea typeface="Inter"/>
                <a:cs typeface="Inter"/>
                <a:sym typeface="Inter"/>
              </a:rPr>
              <a:t>, head-to-head.</a:t>
            </a:r>
            <a:endParaRPr sz="1350" dirty="0"/>
          </a:p>
        </p:txBody>
      </p:sp>
      <p:sp>
        <p:nvSpPr>
          <p:cNvPr id="174" name="Google Shape;174;p25"/>
          <p:cNvSpPr txBox="1"/>
          <p:nvPr/>
        </p:nvSpPr>
        <p:spPr>
          <a:xfrm>
            <a:off x="1378744" y="2434791"/>
            <a:ext cx="6105763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dirty="0">
                <a:solidFill>
                  <a:srgbClr val="1D1D1F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Does a metadata category boost improve ranking and how much?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1378744" y="2649103"/>
            <a:ext cx="581501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i="1" dirty="0">
                <a:solidFill>
                  <a:srgbClr val="86868B"/>
                </a:solidFill>
                <a:ea typeface="Inter"/>
                <a:cs typeface="Inter"/>
                <a:sym typeface="Inter"/>
              </a:rPr>
              <a:t>An α-sweep finds the sweet spot.</a:t>
            </a:r>
            <a:endParaRPr sz="1350" dirty="0"/>
          </a:p>
        </p:txBody>
      </p:sp>
      <p:sp>
        <p:nvSpPr>
          <p:cNvPr id="176" name="Google Shape;176;p25"/>
          <p:cNvSpPr txBox="1"/>
          <p:nvPr/>
        </p:nvSpPr>
        <p:spPr>
          <a:xfrm>
            <a:off x="1378744" y="3270609"/>
            <a:ext cx="6105763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dirty="0">
                <a:solidFill>
                  <a:srgbClr val="1D1D1F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Can combining both models beat either alone?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1378744" y="3484922"/>
            <a:ext cx="581501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i="1" dirty="0">
                <a:solidFill>
                  <a:srgbClr val="86868B"/>
                </a:solidFill>
                <a:ea typeface="Inter"/>
                <a:cs typeface="Inter"/>
                <a:sym typeface="Inter"/>
              </a:rPr>
              <a:t>A SPECTER2 + </a:t>
            </a:r>
            <a:r>
              <a:rPr lang="en-US" sz="1013" i="1" dirty="0" err="1">
                <a:solidFill>
                  <a:srgbClr val="86868B"/>
                </a:solidFill>
                <a:ea typeface="Inter"/>
                <a:cs typeface="Inter"/>
                <a:sym typeface="Inter"/>
              </a:rPr>
              <a:t>SciBERT</a:t>
            </a:r>
            <a:r>
              <a:rPr lang="en-US" sz="1013" i="1" dirty="0">
                <a:solidFill>
                  <a:srgbClr val="86868B"/>
                </a:solidFill>
                <a:ea typeface="Inter"/>
                <a:cs typeface="Inter"/>
                <a:sym typeface="Inter"/>
              </a:rPr>
              <a:t> weight sweep.</a:t>
            </a:r>
            <a:endParaRPr sz="1350" dirty="0"/>
          </a:p>
        </p:txBody>
      </p:sp>
      <p:sp>
        <p:nvSpPr>
          <p:cNvPr id="178" name="Google Shape;178;p25"/>
          <p:cNvSpPr txBox="1"/>
          <p:nvPr/>
        </p:nvSpPr>
        <p:spPr>
          <a:xfrm>
            <a:off x="1378744" y="4106428"/>
            <a:ext cx="6105763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dirty="0">
                <a:solidFill>
                  <a:srgbClr val="1D1D1F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How do we measure all this without manual relevance labels?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1378744" y="4320741"/>
            <a:ext cx="5815013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i="1" dirty="0">
                <a:solidFill>
                  <a:srgbClr val="86868B"/>
                </a:solidFill>
                <a:ea typeface="Inter"/>
                <a:cs typeface="Inter"/>
                <a:sym typeface="Inter"/>
              </a:rPr>
              <a:t>Known-item + proxy ground truth.</a:t>
            </a:r>
            <a:endParaRPr sz="1350" dirty="0"/>
          </a:p>
        </p:txBody>
      </p:sp>
      <p:pic>
        <p:nvPicPr>
          <p:cNvPr id="180" name="Google Shape;180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55172" y="1709700"/>
            <a:ext cx="12858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55172" y="2545519"/>
            <a:ext cx="12858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55172" y="3381338"/>
            <a:ext cx="12858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55172" y="4217156"/>
            <a:ext cx="12858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571500" y="713146"/>
            <a:ext cx="84010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Research questions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0736"/>
            <a:ext cx="1238213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4012" y="1960736"/>
            <a:ext cx="1238213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76525" y="1960736"/>
            <a:ext cx="1238213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9039" y="1960736"/>
            <a:ext cx="1238324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81662" y="1960736"/>
            <a:ext cx="1238213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4175" y="1960736"/>
            <a:ext cx="1238213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700462"/>
            <a:ext cx="3893344" cy="871538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pic>
        <p:nvPicPr>
          <p:cNvPr id="197" name="Google Shape;197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79157" y="3700462"/>
            <a:ext cx="3893344" cy="87153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571500" y="903461"/>
            <a:ext cx="84010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System architecture &amp; roadmap</a:t>
            </a:r>
            <a:endParaRPr sz="3600" b="1" dirty="0">
              <a:solidFill>
                <a:srgbClr val="1D1D1F"/>
              </a:solidFill>
              <a:latin typeface="Poppins" panose="00000500000000000000" pitchFamily="2" charset="0"/>
              <a:ea typeface="Inter"/>
              <a:cs typeface="Poppins" panose="00000500000000000000" pitchFamily="2" charset="0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664369" y="2265796"/>
            <a:ext cx="1052550" cy="31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Data</a:t>
            </a:r>
            <a:br>
              <a:rPr lang="en-US" sz="1350" dirty="0">
                <a:solidFill>
                  <a:schemeClr val="dk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Acquisition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664369" y="2677232"/>
            <a:ext cx="1052550" cy="12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88" dirty="0">
                <a:solidFill>
                  <a:srgbClr val="007AFF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Data Scraping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2016881" y="2265796"/>
            <a:ext cx="1052550" cy="31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Quality &amp;</a:t>
            </a:r>
            <a:br>
              <a:rPr lang="en-US" sz="1350" dirty="0">
                <a:solidFill>
                  <a:schemeClr val="dk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Cleaning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2016881" y="2677232"/>
            <a:ext cx="1052550" cy="12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88" dirty="0">
                <a:solidFill>
                  <a:srgbClr val="007AFF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Data Quality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3369394" y="2265796"/>
            <a:ext cx="1052550" cy="31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Annotation</a:t>
            </a:r>
            <a:br>
              <a:rPr lang="en-US" sz="1350" dirty="0">
                <a:solidFill>
                  <a:schemeClr val="dk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&amp; Keywords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3369394" y="2677232"/>
            <a:ext cx="1052550" cy="12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88" dirty="0">
                <a:solidFill>
                  <a:srgbClr val="007AFF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Data Annotation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4721907" y="2347168"/>
            <a:ext cx="1052550" cy="19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Embeddings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4721907" y="2595749"/>
            <a:ext cx="1052550" cy="12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88" dirty="0">
                <a:solidFill>
                  <a:srgbClr val="007AFF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Vector Embeddings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6074531" y="2286446"/>
            <a:ext cx="1052550" cy="19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Recommender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6074531" y="2535026"/>
            <a:ext cx="1052550" cy="24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88" dirty="0">
                <a:solidFill>
                  <a:srgbClr val="007AFF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Recommender + Tuning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7434188" y="2347168"/>
            <a:ext cx="1038150" cy="19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69" b="1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Evaluation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7434188" y="2595749"/>
            <a:ext cx="1038150" cy="12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88" dirty="0">
                <a:solidFill>
                  <a:srgbClr val="FF9500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Performance Eval.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Data &amp; Feature Engineering</a:t>
            </a:r>
            <a:endParaRPr lang="en-US" sz="3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89;p26" descr="image.png">
            <a:extLst>
              <a:ext uri="{FF2B5EF4-FFF2-40B4-BE49-F238E27FC236}">
                <a16:creationId xmlns:a16="http://schemas.microsoft.com/office/drawing/2014/main" id="{3B761F64-951D-70E6-62DB-C7B95D0819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313" y="1123913"/>
            <a:ext cx="48006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313" y="2952713"/>
            <a:ext cx="4800600" cy="2164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932" y="3720667"/>
            <a:ext cx="4214812" cy="33575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35794" y="1353731"/>
            <a:ext cx="4171950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238" dirty="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Sources</a:t>
            </a:r>
            <a:endParaRPr sz="135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71513" y="3182531"/>
            <a:ext cx="4136175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238" dirty="0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Query Design</a:t>
            </a:r>
            <a:endParaRPr sz="1350" dirty="0"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482" y="1377516"/>
            <a:ext cx="12858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92932" y="1673981"/>
            <a:ext cx="4214925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1000" b="1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arXiv</a:t>
            </a:r>
            <a:r>
              <a:rPr lang="en-US" sz="1000" b="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API:</a:t>
            </a: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Metadata extraction including title, abstract, authors, category, and publication year.</a:t>
            </a: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.</a:t>
            </a:r>
          </a:p>
          <a:p>
            <a:pPr>
              <a:lnSpc>
                <a:spcPct val="149960"/>
              </a:lnSpc>
            </a:pPr>
            <a:endParaRPr sz="140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592932" y="2124037"/>
            <a:ext cx="42149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1000" b="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Semantic Scholar API:</a:t>
            </a: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Enrichment with citation and reference counts via efficient batch endpoints.</a:t>
            </a:r>
            <a:endParaRPr sz="1400" dirty="0"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1482" y="3206316"/>
            <a:ext cx="16430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592932" y="3502781"/>
            <a:ext cx="42149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Automated per-category/year requests:</a:t>
            </a:r>
            <a:endParaRPr sz="1400"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592932" y="4142147"/>
            <a:ext cx="42149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Target: </a:t>
            </a:r>
            <a:r>
              <a:rPr lang="en-US" sz="1000" b="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~8,333 papers/year</a:t>
            </a: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across core CS domains:</a:t>
            </a:r>
            <a:endParaRPr sz="1400"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592932" y="4642210"/>
            <a:ext cx="42149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Architecture: Robust, </a:t>
            </a:r>
            <a:r>
              <a:rPr lang="en-US" sz="1000" b="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checkpointed &amp; resumable</a:t>
            </a:r>
            <a:r>
              <a:rPr lang="en-US" sz="10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.</a:t>
            </a:r>
            <a:endParaRPr sz="1400" dirty="0"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482" y="1706129"/>
            <a:ext cx="42863" cy="9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482" y="2156185"/>
            <a:ext cx="42863" cy="9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482" y="3577793"/>
            <a:ext cx="42863" cy="9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482" y="4217158"/>
            <a:ext cx="42863" cy="9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932" y="4360032"/>
            <a:ext cx="371475" cy="196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1557" y="4360032"/>
            <a:ext cx="400050" cy="196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78757" y="4360032"/>
            <a:ext cx="407194" cy="196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43101" y="4360032"/>
            <a:ext cx="392906" cy="196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1482" y="4724364"/>
            <a:ext cx="42863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328613" y="297648"/>
            <a:ext cx="8701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Acquisition &amp; Enrichment</a:t>
            </a:r>
            <a:endParaRPr sz="1350" dirty="0"/>
          </a:p>
        </p:txBody>
      </p:sp>
      <p:sp>
        <p:nvSpPr>
          <p:cNvPr id="110" name="Google Shape;110;p13"/>
          <p:cNvSpPr txBox="1"/>
          <p:nvPr/>
        </p:nvSpPr>
        <p:spPr>
          <a:xfrm>
            <a:off x="635794" y="811077"/>
            <a:ext cx="2557575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25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WORK PACKAGE: DATA SCRAPING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BE3166-BBF5-CA45-C59B-79B1457F5846}"/>
              </a:ext>
            </a:extLst>
          </p:cNvPr>
          <p:cNvGrpSpPr/>
          <p:nvPr/>
        </p:nvGrpSpPr>
        <p:grpSpPr>
          <a:xfrm>
            <a:off x="5624988" y="1571969"/>
            <a:ext cx="2926080" cy="2761488"/>
            <a:chOff x="5760720" y="1371600"/>
            <a:chExt cx="2926080" cy="276148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F69B8F6-D68D-5F79-02F5-BCA8F2AAEDD8}"/>
                </a:ext>
              </a:extLst>
            </p:cNvPr>
            <p:cNvSpPr/>
            <p:nvPr/>
          </p:nvSpPr>
          <p:spPr>
            <a:xfrm>
              <a:off x="5760720" y="1371600"/>
              <a:ext cx="2926080" cy="841248"/>
            </a:xfrm>
            <a:prstGeom prst="roundRect">
              <a:avLst>
                <a:gd name="adj" fmla="val 1087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88900" dist="25400" dir="54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FF73E997-15BF-F166-9215-9B1C8F5BC956}"/>
                </a:ext>
              </a:extLst>
            </p:cNvPr>
            <p:cNvSpPr/>
            <p:nvPr/>
          </p:nvSpPr>
          <p:spPr>
            <a:xfrm>
              <a:off x="5897880" y="1444752"/>
              <a:ext cx="1554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D7D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50,000</a:t>
              </a:r>
              <a:endParaRPr lang="en-US" sz="25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29AD28B3-ECCD-9329-A3C5-5D3D27EC1B2C}"/>
                </a:ext>
              </a:extLst>
            </p:cNvPr>
            <p:cNvSpPr/>
            <p:nvPr/>
          </p:nvSpPr>
          <p:spPr>
            <a:xfrm>
              <a:off x="7360920" y="1371600"/>
              <a:ext cx="123444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papers collected</a:t>
              </a:r>
              <a:endParaRPr lang="en-US" sz="115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6EA9F506-04C0-72BB-D0E4-B204B17FB709}"/>
                </a:ext>
              </a:extLst>
            </p:cNvPr>
            <p:cNvSpPr/>
            <p:nvPr/>
          </p:nvSpPr>
          <p:spPr>
            <a:xfrm>
              <a:off x="5760720" y="2331720"/>
              <a:ext cx="2926080" cy="841248"/>
            </a:xfrm>
            <a:prstGeom prst="roundRect">
              <a:avLst>
                <a:gd name="adj" fmla="val 10870"/>
              </a:avLst>
            </a:prstGeom>
            <a:solidFill>
              <a:schemeClr val="bg1"/>
            </a:solidFill>
            <a:ln>
              <a:solidFill>
                <a:srgbClr val="0D9488"/>
              </a:solidFill>
            </a:ln>
            <a:effectLst>
              <a:outerShdw blurRad="88900" dist="25400" dir="54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A7EA2CA-1589-B432-7FC6-164E69C1C171}"/>
                </a:ext>
              </a:extLst>
            </p:cNvPr>
            <p:cNvSpPr/>
            <p:nvPr/>
          </p:nvSpPr>
          <p:spPr>
            <a:xfrm>
              <a:off x="5897880" y="2404872"/>
              <a:ext cx="1554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2500" dirty="0">
                <a:solidFill>
                  <a:srgbClr val="0D9488"/>
                </a:solidFill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CEAD394-8230-883A-C401-FAF7DECA53C9}"/>
                </a:ext>
              </a:extLst>
            </p:cNvPr>
            <p:cNvSpPr/>
            <p:nvPr/>
          </p:nvSpPr>
          <p:spPr>
            <a:xfrm>
              <a:off x="7360920" y="2331720"/>
              <a:ext cx="123444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 categories</a:t>
              </a:r>
              <a:endParaRPr lang="en-US" sz="1150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BB83C93A-8A80-358C-73FB-DFE9C8FFEF52}"/>
                </a:ext>
              </a:extLst>
            </p:cNvPr>
            <p:cNvSpPr/>
            <p:nvPr/>
          </p:nvSpPr>
          <p:spPr>
            <a:xfrm>
              <a:off x="5760720" y="3291840"/>
              <a:ext cx="2926080" cy="841248"/>
            </a:xfrm>
            <a:prstGeom prst="roundRect">
              <a:avLst>
                <a:gd name="adj" fmla="val 1087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88900" dist="25400" dir="54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2DCBB2D-A5CF-192A-505C-A4388D73BF6E}"/>
                </a:ext>
              </a:extLst>
            </p:cNvPr>
            <p:cNvSpPr/>
            <p:nvPr/>
          </p:nvSpPr>
          <p:spPr>
            <a:xfrm>
              <a:off x="5897880" y="3364992"/>
              <a:ext cx="1554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D7D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2021–2026</a:t>
              </a:r>
              <a:endParaRPr lang="en-US" sz="25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A807B10A-9394-E21D-D73B-BDC8E54653AA}"/>
                </a:ext>
              </a:extLst>
            </p:cNvPr>
            <p:cNvSpPr/>
            <p:nvPr/>
          </p:nvSpPr>
          <p:spPr>
            <a:xfrm>
              <a:off x="7360920" y="3291840"/>
              <a:ext cx="123444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balanced by year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71500" y="128587"/>
            <a:ext cx="84010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Challenges: data collection</a:t>
            </a:r>
            <a:endParaRPr sz="135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7A509F-156C-DD09-E91D-6FF501B48FF1}"/>
              </a:ext>
            </a:extLst>
          </p:cNvPr>
          <p:cNvGrpSpPr/>
          <p:nvPr/>
        </p:nvGrpSpPr>
        <p:grpSpPr>
          <a:xfrm>
            <a:off x="628650" y="628650"/>
            <a:ext cx="8001000" cy="4514850"/>
            <a:chOff x="571500" y="1092994"/>
            <a:chExt cx="8001000" cy="4514850"/>
          </a:xfrm>
        </p:grpSpPr>
        <p:pic>
          <p:nvPicPr>
            <p:cNvPr id="85" name="Google Shape;85;p1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607344"/>
              <a:ext cx="8001000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071813"/>
              <a:ext cx="8001000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1500" y="4536281"/>
              <a:ext cx="8001000" cy="1071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8650" y="1607344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28650" y="3071813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3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28650" y="4536281"/>
              <a:ext cx="2714625" cy="1071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3"/>
            <p:cNvSpPr txBox="1"/>
            <p:nvPr/>
          </p:nvSpPr>
          <p:spPr>
            <a:xfrm>
              <a:off x="571500" y="1092994"/>
              <a:ext cx="8001000" cy="225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463" i="1" dirty="0">
                  <a:solidFill>
                    <a:srgbClr val="64748B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Problems hit while scraping - and how they were solved</a:t>
              </a:r>
              <a:endParaRPr sz="13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3636169" y="1785937"/>
              <a:ext cx="4650581" cy="519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b="1" dirty="0">
                  <a:solidFill>
                    <a:srgbClr val="475569"/>
                  </a:solidFill>
                  <a:ea typeface="Lato"/>
                  <a:cs typeface="Lato"/>
                  <a:sym typeface="Lato"/>
                </a:rPr>
                <a:t>Problem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125" dirty="0" err="1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arXiv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cross-lists papers, so one paper appears under multiple category queries.</a:t>
              </a:r>
              <a:endParaRPr sz="1350" dirty="0"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3636169" y="2286000"/>
              <a:ext cx="4650581" cy="519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b="1" dirty="0">
                  <a:solidFill>
                    <a:srgbClr val="F97316"/>
                  </a:solidFill>
                  <a:ea typeface="Lato"/>
                  <a:cs typeface="Lato"/>
                  <a:sym typeface="Lato"/>
                </a:rPr>
                <a:t>Fix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Scan all listed categories, assign the first matching CS one; later de-dup by </a:t>
              </a:r>
              <a:r>
                <a:rPr lang="en-US" sz="1125" dirty="0" err="1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arXiv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ID + title.</a:t>
              </a:r>
              <a:endParaRPr sz="1350" dirty="0"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3636169" y="3250407"/>
              <a:ext cx="4650581" cy="519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b="1" dirty="0">
                  <a:solidFill>
                    <a:srgbClr val="475569"/>
                  </a:solidFill>
                  <a:ea typeface="Lato"/>
                  <a:cs typeface="Lato"/>
                  <a:sym typeface="Lato"/>
                </a:rPr>
                <a:t>Problem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</a:t>
              </a:r>
              <a:r>
                <a:rPr lang="en-US" sz="1125" dirty="0" err="1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arXiv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pagination becomes unreliable past a few thousand results on date-range queries.</a:t>
              </a:r>
              <a:endParaRPr sz="1350" dirty="0"/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3636169" y="3750469"/>
              <a:ext cx="4650581" cy="519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b="1" dirty="0">
                  <a:solidFill>
                    <a:srgbClr val="3B82F6"/>
                  </a:solidFill>
                  <a:ea typeface="Lato"/>
                  <a:cs typeface="Lato"/>
                  <a:sym typeface="Lato"/>
                </a:rPr>
                <a:t>Fix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Advance the cursor by the raw payload count  and checkpoint every page to resume safely.</a:t>
              </a:r>
              <a:endParaRPr sz="1350" dirty="0"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3636169" y="4714875"/>
              <a:ext cx="4650581" cy="519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b="1" dirty="0">
                  <a:solidFill>
                    <a:srgbClr val="475569"/>
                  </a:solidFill>
                  <a:ea typeface="Lato"/>
                  <a:cs typeface="Lato"/>
                  <a:sym typeface="Lato"/>
                </a:rPr>
                <a:t>Problem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A year's date-range batch can include papers first published in another year (revised versions).</a:t>
              </a:r>
              <a:endParaRPr sz="1350" dirty="0"/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3636169" y="5214938"/>
              <a:ext cx="4650581" cy="259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b="1" dirty="0">
                  <a:solidFill>
                    <a:srgbClr val="22C55E"/>
                  </a:solidFill>
                  <a:ea typeface="Lato"/>
                  <a:cs typeface="Lato"/>
                  <a:sym typeface="Lato"/>
                </a:rPr>
                <a:t>Fix</a:t>
              </a:r>
              <a:r>
                <a:rPr lang="en-US" sz="1125" dirty="0">
                  <a:solidFill>
                    <a:srgbClr val="334155"/>
                  </a:solidFill>
                  <a:ea typeface="Lato"/>
                  <a:cs typeface="Lato"/>
                  <a:sym typeface="Lato"/>
                </a:rPr>
                <a:t> Derive the year from the published date and balance per-year targets.</a:t>
              </a:r>
              <a:endParaRPr sz="13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144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1521597"/>
            <a:ext cx="4000500" cy="1357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5" y="3050360"/>
            <a:ext cx="4000500" cy="129301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07232" y="1542740"/>
            <a:ext cx="390798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Cleaning Steps</a:t>
            </a:r>
            <a:endParaRPr sz="1350" dirty="0">
              <a:solidFill>
                <a:srgbClr val="0D9488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5801" y="3485729"/>
            <a:ext cx="393049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350" b="1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Mojibake Repair</a:t>
            </a:r>
            <a:endParaRPr sz="135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972050" y="1743054"/>
            <a:ext cx="35218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dirty="0">
                <a:solidFill>
                  <a:srgbClr val="3B82F6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RETENTION</a:t>
            </a:r>
            <a:endParaRPr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972050" y="2514579"/>
            <a:ext cx="35218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dirty="0">
                <a:solidFill>
                  <a:srgbClr val="475569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6 duplicate titles removed — </a:t>
            </a:r>
            <a:r>
              <a:rPr lang="en-US" sz="900" b="1" dirty="0">
                <a:solidFill>
                  <a:srgbClr val="475569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99.99% retained</a:t>
            </a:r>
            <a:r>
              <a:rPr lang="en-US" sz="900" dirty="0">
                <a:solidFill>
                  <a:srgbClr val="475569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.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972050" y="3271817"/>
            <a:ext cx="35218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dirty="0">
                <a:solidFill>
                  <a:srgbClr val="D97706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CITATION COVERAGE</a:t>
            </a:r>
            <a:endParaRPr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6" y="1560889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628650" y="1878786"/>
            <a:ext cx="38004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De-duplicate by </a:t>
            </a:r>
            <a:r>
              <a:rPr lang="en-US" sz="1050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arXiv</a:t>
            </a: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ID and case-insensitive title across years and categories.</a:t>
            </a:r>
            <a:endParaRPr sz="140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628650" y="2375946"/>
            <a:ext cx="38004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Drop records with empty critical fields.</a:t>
            </a:r>
            <a:endParaRPr sz="140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28650" y="2667389"/>
            <a:ext cx="38004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Filter specifically to the 4 targeted CS categories.</a:t>
            </a:r>
            <a:endParaRPr sz="14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628650" y="2958831"/>
            <a:ext cx="38004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Exclude abstracts with fewer than 50 characters for quality.</a:t>
            </a:r>
            <a:endParaRPr sz="1400" dirty="0"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50387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628650" y="3821775"/>
            <a:ext cx="38004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Broken UTF-8 encoding (e.g. "</a:t>
            </a:r>
            <a:r>
              <a:rPr lang="en-US" sz="1050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KÃ¶cher</a:t>
            </a: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" → "</a:t>
            </a:r>
            <a:r>
              <a:rPr lang="en-US" sz="1050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Köcher</a:t>
            </a: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") fixed using the library</a:t>
            </a:r>
            <a:endParaRPr sz="1400"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628650" y="4318935"/>
            <a:ext cx="38004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Whitespace normalization performed to provide clean input for downstream tokenization tasks.</a:t>
            </a:r>
            <a:endParaRPr sz="1400" dirty="0"/>
          </a:p>
        </p:txBody>
      </p:sp>
      <p:pic>
        <p:nvPicPr>
          <p:cNvPr id="101" name="Google Shape;10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3617" y="2143103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7543800" y="2178823"/>
            <a:ext cx="457200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papers</a:t>
            </a:r>
            <a:endParaRPr sz="1350"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4991695" y="3671877"/>
            <a:ext cx="16894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1E293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58.3%</a:t>
            </a:r>
            <a:r>
              <a:rPr lang="en-US" sz="900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100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Cited ≥ once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782989" y="3671745"/>
            <a:ext cx="1875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1E293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79.7%</a:t>
            </a:r>
            <a:r>
              <a:rPr lang="en-US" sz="1600" dirty="0">
                <a:solidFill>
                  <a:srgbClr val="000000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100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Have references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28625" y="350022"/>
            <a:ext cx="870108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Quality &amp; Cleaning</a:t>
            </a:r>
            <a:endParaRPr sz="1350"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428625" y="1064398"/>
            <a:ext cx="243601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WORK PACKAGE: DATA QUALITY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7" name="Google Shape;10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2000233"/>
            <a:ext cx="85725" cy="10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2433097"/>
            <a:ext cx="85725" cy="10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2760260"/>
            <a:ext cx="85725" cy="10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3058846"/>
            <a:ext cx="85725" cy="10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3921790"/>
            <a:ext cx="85725" cy="10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1553" y="4127504"/>
            <a:ext cx="394469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4390374"/>
            <a:ext cx="85725" cy="10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Dataset composition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49,992 papers · balanced ≈ 8,333 per year (2021–2026) · 768-dim embeddings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Google Shape;297;p31" descr="image.png">
            <a:extLst>
              <a:ext uri="{FF2B5EF4-FFF2-40B4-BE49-F238E27FC236}">
                <a16:creationId xmlns:a16="http://schemas.microsoft.com/office/drawing/2014/main" id="{215E4F10-BF60-6990-B278-08FC15EEEC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43897"/>
            <a:ext cx="6620107" cy="29132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26B2030-81E2-98AA-9FC0-67400C190C70}"/>
              </a:ext>
            </a:extLst>
          </p:cNvPr>
          <p:cNvGrpSpPr/>
          <p:nvPr/>
        </p:nvGrpSpPr>
        <p:grpSpPr>
          <a:xfrm>
            <a:off x="4798001" y="1583012"/>
            <a:ext cx="4345997" cy="2410344"/>
            <a:chOff x="4798003" y="1733031"/>
            <a:chExt cx="4112779" cy="23317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75C60C2-642B-A896-9395-7BA0405B08DC}"/>
                </a:ext>
              </a:extLst>
            </p:cNvPr>
            <p:cNvGrpSpPr/>
            <p:nvPr/>
          </p:nvGrpSpPr>
          <p:grpSpPr>
            <a:xfrm>
              <a:off x="4798003" y="1733031"/>
              <a:ext cx="3657600" cy="2331720"/>
              <a:chOff x="5029200" y="1371600"/>
              <a:chExt cx="3657600" cy="2331720"/>
            </a:xfrm>
          </p:grpSpPr>
          <p:sp>
            <p:nvSpPr>
              <p:cNvPr id="6" name="Rounded Rectangle 9">
                <a:extLst>
                  <a:ext uri="{FF2B5EF4-FFF2-40B4-BE49-F238E27FC236}">
                    <a16:creationId xmlns:a16="http://schemas.microsoft.com/office/drawing/2014/main" id="{9C76875F-FCD6-0E11-6822-FF9653DA521D}"/>
                  </a:ext>
                </a:extLst>
              </p:cNvPr>
              <p:cNvSpPr/>
              <p:nvPr/>
            </p:nvSpPr>
            <p:spPr>
              <a:xfrm>
                <a:off x="5029200" y="1371600"/>
                <a:ext cx="3657600" cy="2331720"/>
              </a:xfrm>
              <a:prstGeom prst="roundRect">
                <a:avLst>
                  <a:gd name="adj" fmla="val 6000"/>
                </a:avLst>
              </a:prstGeom>
              <a:solidFill>
                <a:srgbClr val="F8FAFC"/>
              </a:solidFill>
              <a:ln w="12700">
                <a:solidFill>
                  <a:srgbClr val="E2E8F0"/>
                </a:solidFill>
              </a:ln>
              <a:effectLst>
                <a:outerShdw blurRad="90000" dist="38000" dir="5400000" rotWithShape="0">
                  <a:srgbClr val="0F172A">
                    <a:alpha val="9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310479-DE6E-EC49-79A7-D424CFCCB629}"/>
                  </a:ext>
                </a:extLst>
              </p:cNvPr>
              <p:cNvSpPr txBox="1"/>
              <p:nvPr/>
            </p:nvSpPr>
            <p:spPr>
              <a:xfrm>
                <a:off x="5249437" y="1490256"/>
                <a:ext cx="3108960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D9488"/>
                    </a:solidFill>
                    <a:effectLst/>
                    <a:uLnTx/>
                    <a:uFillTx/>
                    <a:latin typeface="Poppins"/>
                    <a:ea typeface="Poppins"/>
                    <a:cs typeface="Poppins"/>
                    <a:sym typeface="Poppins"/>
                  </a:rPr>
                  <a:t>Composition notes</a:t>
                </a: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9488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13C8B7E-CBEC-3EA8-3C0C-D596C39A78EC}"/>
                </a:ext>
              </a:extLst>
            </p:cNvPr>
            <p:cNvGrpSpPr/>
            <p:nvPr/>
          </p:nvGrpSpPr>
          <p:grpSpPr>
            <a:xfrm>
              <a:off x="4953216" y="2143156"/>
              <a:ext cx="3957566" cy="1660844"/>
              <a:chOff x="4809962" y="2082072"/>
              <a:chExt cx="3957566" cy="1660844"/>
            </a:xfrm>
          </p:grpSpPr>
          <p:sp>
            <p:nvSpPr>
              <p:cNvPr id="40" name="Google Shape;89;p13">
                <a:extLst>
                  <a:ext uri="{FF2B5EF4-FFF2-40B4-BE49-F238E27FC236}">
                    <a16:creationId xmlns:a16="http://schemas.microsoft.com/office/drawing/2014/main" id="{CF0539D2-1730-EE7A-7D8E-C78CAD36B64F}"/>
                  </a:ext>
                </a:extLst>
              </p:cNvPr>
              <p:cNvSpPr txBox="1"/>
              <p:nvPr/>
            </p:nvSpPr>
            <p:spPr>
              <a:xfrm>
                <a:off x="5056371" y="2082072"/>
                <a:ext cx="3711157" cy="507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:r>
                  <a:rPr lang="en-US" sz="1100" kern="0" dirty="0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cs.AI dominates (45.8%) - a known, real imbalance, </a:t>
                </a:r>
              </a:p>
              <a:p>
                <a:pPr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:r>
                  <a:rPr lang="en-US" sz="1100" kern="0" dirty="0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not a sampling error.</a:t>
                </a:r>
                <a:endParaRPr sz="1000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1" name="Google Shape;90;p13">
                <a:extLst>
                  <a:ext uri="{FF2B5EF4-FFF2-40B4-BE49-F238E27FC236}">
                    <a16:creationId xmlns:a16="http://schemas.microsoft.com/office/drawing/2014/main" id="{FF8C09D6-94AB-8143-9EA0-2CF5FDD995B6}"/>
                  </a:ext>
                </a:extLst>
              </p:cNvPr>
              <p:cNvSpPr txBox="1"/>
              <p:nvPr/>
            </p:nvSpPr>
            <p:spPr>
              <a:xfrm>
                <a:off x="5056370" y="2601466"/>
                <a:ext cx="371115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:r>
                  <a:rPr lang="en-US" sz="1100" kern="0" dirty="0" err="1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cs.LG</a:t>
                </a:r>
                <a:r>
                  <a:rPr lang="en-US" sz="1100" kern="0" dirty="0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 24.4%, cs.CV 15.7%, cs.CL 14.1%.</a:t>
                </a:r>
                <a:endParaRPr sz="1000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2" name="Google Shape;91;p13">
                <a:extLst>
                  <a:ext uri="{FF2B5EF4-FFF2-40B4-BE49-F238E27FC236}">
                    <a16:creationId xmlns:a16="http://schemas.microsoft.com/office/drawing/2014/main" id="{A29997EC-DE47-9FB4-75CD-99F8DCDFB714}"/>
                  </a:ext>
                </a:extLst>
              </p:cNvPr>
              <p:cNvSpPr txBox="1"/>
              <p:nvPr/>
            </p:nvSpPr>
            <p:spPr>
              <a:xfrm>
                <a:off x="5056369" y="2917091"/>
                <a:ext cx="371115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:r>
                  <a:rPr lang="en-US" sz="1100" kern="0" dirty="0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Years balanced by design (~8,333/yr).</a:t>
                </a:r>
                <a:endParaRPr sz="1000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3" name="Google Shape;92;p13">
                <a:extLst>
                  <a:ext uri="{FF2B5EF4-FFF2-40B4-BE49-F238E27FC236}">
                    <a16:creationId xmlns:a16="http://schemas.microsoft.com/office/drawing/2014/main" id="{884D6949-A577-8E3D-D204-334E3318E0F0}"/>
                  </a:ext>
                </a:extLst>
              </p:cNvPr>
              <p:cNvSpPr txBox="1"/>
              <p:nvPr/>
            </p:nvSpPr>
            <p:spPr>
              <a:xfrm>
                <a:off x="5056371" y="3235085"/>
                <a:ext cx="3711157" cy="507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:r>
                  <a:rPr lang="en-US" sz="1100" kern="0" dirty="0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Citations long-tailed: many recent papers uncited </a:t>
                </a:r>
              </a:p>
              <a:p>
                <a:pPr>
                  <a:lnSpc>
                    <a:spcPct val="150000"/>
                  </a:lnSpc>
                  <a:buClr>
                    <a:srgbClr val="000000"/>
                  </a:buClr>
                  <a:buFont typeface="Arial"/>
                  <a:buNone/>
                </a:pPr>
                <a:r>
                  <a:rPr lang="en-US" sz="1100" kern="0" dirty="0">
                    <a:solidFill>
                      <a:srgbClr val="334155"/>
                    </a:solidFill>
                    <a:ea typeface="Lato"/>
                    <a:cs typeface="Lato"/>
                    <a:sym typeface="Lato"/>
                  </a:rPr>
                  <a:t>(citation lag, not low quality).</a:t>
                </a:r>
                <a:endParaRPr sz="1000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4" name="Google Shape;93;p13">
                <a:extLst>
                  <a:ext uri="{FF2B5EF4-FFF2-40B4-BE49-F238E27FC236}">
                    <a16:creationId xmlns:a16="http://schemas.microsoft.com/office/drawing/2014/main" id="{C2503CCA-8723-48DF-BAA4-5BE4E8D483C5}"/>
                  </a:ext>
                </a:extLst>
              </p:cNvPr>
              <p:cNvSpPr txBox="1"/>
              <p:nvPr/>
            </p:nvSpPr>
            <p:spPr>
              <a:xfrm>
                <a:off x="4809962" y="2117792"/>
                <a:ext cx="13963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r>
                  <a:rPr lang="en-US" sz="1400" kern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•</a:t>
                </a:r>
                <a:endParaRPr sz="1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94;p13">
                <a:extLst>
                  <a:ext uri="{FF2B5EF4-FFF2-40B4-BE49-F238E27FC236}">
                    <a16:creationId xmlns:a16="http://schemas.microsoft.com/office/drawing/2014/main" id="{A6BD2F1D-5884-7848-C266-E8E4C71CFA16}"/>
                  </a:ext>
                </a:extLst>
              </p:cNvPr>
              <p:cNvSpPr txBox="1"/>
              <p:nvPr/>
            </p:nvSpPr>
            <p:spPr>
              <a:xfrm>
                <a:off x="4809962" y="2636902"/>
                <a:ext cx="13963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r>
                  <a:rPr lang="en-US" sz="1400" kern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•</a:t>
                </a:r>
                <a:endParaRPr sz="1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95;p13">
                <a:extLst>
                  <a:ext uri="{FF2B5EF4-FFF2-40B4-BE49-F238E27FC236}">
                    <a16:creationId xmlns:a16="http://schemas.microsoft.com/office/drawing/2014/main" id="{41986B00-FE09-7F47-D2FD-46A2A6A90644}"/>
                  </a:ext>
                </a:extLst>
              </p:cNvPr>
              <p:cNvSpPr txBox="1"/>
              <p:nvPr/>
            </p:nvSpPr>
            <p:spPr>
              <a:xfrm>
                <a:off x="4809962" y="2941693"/>
                <a:ext cx="13963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r>
                  <a:rPr lang="en-US" sz="1400" kern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•</a:t>
                </a:r>
                <a:endParaRPr sz="1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96;p13">
                <a:extLst>
                  <a:ext uri="{FF2B5EF4-FFF2-40B4-BE49-F238E27FC236}">
                    <a16:creationId xmlns:a16="http://schemas.microsoft.com/office/drawing/2014/main" id="{135E92EF-8C9E-2D96-D458-787F615FE5DF}"/>
                  </a:ext>
                </a:extLst>
              </p:cNvPr>
              <p:cNvSpPr txBox="1"/>
              <p:nvPr/>
            </p:nvSpPr>
            <p:spPr>
              <a:xfrm>
                <a:off x="4809962" y="3275071"/>
                <a:ext cx="13963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r>
                  <a:rPr lang="en-US" sz="1400" kern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•</a:t>
                </a:r>
                <a:endParaRPr sz="1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571500" y="428625"/>
            <a:ext cx="274534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Annotation</a:t>
            </a:r>
            <a:endParaRPr sz="135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1" y="1042996"/>
            <a:ext cx="3943349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350" i="1" dirty="0">
                <a:solidFill>
                  <a:srgbClr val="64748B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Work package: Data Annotation - automated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654277" y="3972137"/>
            <a:ext cx="2786063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en-US" sz="1100" i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Tags drive filtering and analytics - they never train the models.</a:t>
            </a:r>
            <a:endParaRPr sz="11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1947341"/>
            <a:ext cx="4950619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dirty="0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Domain labels</a:t>
            </a:r>
            <a:endParaRPr sz="1350" dirty="0">
              <a:solidFill>
                <a:srgbClr val="0D9488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3108870"/>
            <a:ext cx="4950619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dirty="0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Local keyword dictionary</a:t>
            </a:r>
            <a:endParaRPr sz="1350" dirty="0">
              <a:solidFill>
                <a:srgbClr val="0D9488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507D23-6D50-395A-CCDB-3A1BAD59E493}"/>
              </a:ext>
            </a:extLst>
          </p:cNvPr>
          <p:cNvGrpSpPr/>
          <p:nvPr/>
        </p:nvGrpSpPr>
        <p:grpSpPr>
          <a:xfrm>
            <a:off x="5715000" y="1708149"/>
            <a:ext cx="2857500" cy="2093119"/>
            <a:chOff x="5715000" y="1947342"/>
            <a:chExt cx="2857500" cy="2093119"/>
          </a:xfrm>
        </p:grpSpPr>
        <p:pic>
          <p:nvPicPr>
            <p:cNvPr id="86" name="Google Shape;86;p13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0" y="1947342"/>
              <a:ext cx="2857500" cy="20931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3"/>
            <p:cNvSpPr txBox="1"/>
            <p:nvPr/>
          </p:nvSpPr>
          <p:spPr>
            <a:xfrm>
              <a:off x="5965031" y="2197373"/>
              <a:ext cx="2475309" cy="20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350" b="1" dirty="0">
                  <a:solidFill>
                    <a:srgbClr val="F59E0B"/>
                  </a:solidFill>
                  <a:latin typeface="Poppins" panose="00000500000000000000" pitchFamily="2" charset="0"/>
                  <a:ea typeface="Inter"/>
                  <a:cs typeface="Poppins" panose="00000500000000000000" pitchFamily="2" charset="0"/>
                  <a:sym typeface="Poppins SemiBold"/>
                </a:rPr>
                <a:t>How tags are used</a:t>
              </a:r>
              <a:endParaRPr sz="1350" b="1" dirty="0">
                <a:solidFill>
                  <a:srgbClr val="F59E0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5965031" y="2575991"/>
              <a:ext cx="2357438" cy="1298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25" dirty="0">
                  <a:solidFill>
                    <a:srgbClr val="1E293B"/>
                  </a:solidFill>
                  <a:ea typeface="Lato"/>
                  <a:cs typeface="Lato"/>
                  <a:sym typeface="Lato"/>
                </a:rPr>
                <a:t>Automated end-to-end - no Label Studio, no manual labelling. A tag is assigned only when its keyword literally appears in the abstract, so the rule is fully transparent.</a:t>
              </a:r>
              <a:endParaRPr sz="1350" dirty="0"/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785812" y="2333104"/>
            <a:ext cx="4500563" cy="53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Each </a:t>
            </a:r>
            <a:r>
              <a:rPr lang="en-US" sz="1238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arXiv</a:t>
            </a: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category -&gt; readable label (cs.CL -&gt; Natural Language Processing).</a:t>
            </a:r>
            <a:endParaRPr sz="135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785812" y="3494633"/>
            <a:ext cx="4500563" cy="53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Per-category keyword lists; tags assigned by word-boundary matching against each abstract.</a:t>
            </a:r>
            <a:endParaRPr sz="135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785812" y="4020368"/>
            <a:ext cx="4500563" cy="53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Used for filtering, analytics and proxy-relevance only - never to train the models.</a:t>
            </a:r>
            <a:endParaRPr sz="135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2297385"/>
            <a:ext cx="12144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350"/>
          </a:p>
        </p:txBody>
      </p:sp>
      <p:sp>
        <p:nvSpPr>
          <p:cNvPr id="98" name="Google Shape;98;p13"/>
          <p:cNvSpPr txBox="1"/>
          <p:nvPr/>
        </p:nvSpPr>
        <p:spPr>
          <a:xfrm>
            <a:off x="571500" y="3458914"/>
            <a:ext cx="12144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350"/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3984649"/>
            <a:ext cx="12144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7306" y="1628776"/>
            <a:ext cx="3155193" cy="198562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428625"/>
            <a:ext cx="587323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Keyword extraction (</a:t>
            </a:r>
            <a:r>
              <a:rPr lang="en-US" sz="2700" b="1" dirty="0" err="1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KeyBERT</a:t>
            </a:r>
            <a:r>
              <a:rPr lang="en-US" sz="2700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)</a:t>
            </a:r>
            <a:endParaRPr sz="825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1" y="1064419"/>
            <a:ext cx="559355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i="1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 second, model-based tagging pass over title + abstract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1" y="1628775"/>
            <a:ext cx="4417181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 err="1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KeyBERT</a:t>
            </a:r>
            <a:r>
              <a:rPr lang="en-US" sz="1463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with all-MiniLM-L6-v2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1" y="2980171"/>
            <a:ext cx="4417181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Settings (tuned v1 → v2)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0200" y="1921669"/>
            <a:ext cx="256940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F59E0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Challenge: batching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0200" y="2271712"/>
            <a:ext cx="2569406" cy="101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8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Running </a:t>
            </a:r>
            <a:r>
              <a:rPr lang="en-US" sz="1181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KeyBERT</a:t>
            </a:r>
            <a:r>
              <a:rPr lang="en-US" sz="118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over all ~50k papers in one pass is memory-heavy; extraction had to be managed carefully on the available hardware.</a:t>
            </a:r>
            <a:endParaRPr sz="135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85813" y="1957388"/>
            <a:ext cx="4202869" cy="50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8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Embeds candidate phrases and ranks them by similarity to the document - the backend is </a:t>
            </a:r>
            <a:r>
              <a:rPr lang="en-US" sz="1181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MiniLM</a:t>
            </a:r>
            <a:r>
              <a:rPr lang="en-US" sz="118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(a sentence-transformer)</a:t>
            </a:r>
            <a:endParaRPr sz="135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785813" y="3315928"/>
            <a:ext cx="4202869" cy="254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8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v1: abstract only, threshold 0.35 → too few tags.</a:t>
            </a:r>
            <a:endParaRPr sz="135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785813" y="3640187"/>
            <a:ext cx="4202869" cy="254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81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v2: title + abstract, 1–2-gram, extract 8, keep top 5 with score.</a:t>
            </a:r>
            <a:endParaRPr sz="135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571500" y="1957388"/>
            <a:ext cx="100013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96" name="Google Shape;96;p13"/>
          <p:cNvSpPr txBox="1"/>
          <p:nvPr/>
        </p:nvSpPr>
        <p:spPr>
          <a:xfrm>
            <a:off x="571500" y="3315928"/>
            <a:ext cx="100013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3640187"/>
            <a:ext cx="100013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Embeddings</a:t>
            </a:r>
            <a:endParaRPr lang="en-US" sz="3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F17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Embeddings: SPECTER2 vs </a:t>
            </a:r>
            <a:r>
              <a:rPr sz="2800" b="1" i="0" dirty="0" err="1">
                <a:solidFill>
                  <a:srgbClr val="0F17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SciBERT</a:t>
            </a:r>
            <a:endParaRPr sz="2800" b="1" i="0" dirty="0">
              <a:solidFill>
                <a:srgbClr val="0F172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core comparison - Work package: Vector Embeddings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SPECTER2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3624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primary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310896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0" i="0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allenai</a:t>
            </a:r>
            <a:r>
              <a:rPr sz="1250" b="0" i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/specter2_base + proximity adapter</a:t>
            </a:r>
          </a:p>
          <a:p>
            <a:pPr algn="l">
              <a:lnSpc>
                <a:spcPct val="116000"/>
              </a:lnSpc>
            </a:pPr>
            <a:r>
              <a:rPr sz="1250" b="0" i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CLS-token pooling</a:t>
            </a:r>
          </a:p>
          <a:p>
            <a:pPr algn="l">
              <a:lnSpc>
                <a:spcPct val="116000"/>
              </a:lnSpc>
            </a:pPr>
            <a:r>
              <a:rPr sz="1250" b="0" i="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Citation-trained → document-level similarity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5B2AC6-048B-8189-03B7-C8B0D1BE914E}"/>
              </a:ext>
            </a:extLst>
          </p:cNvPr>
          <p:cNvGrpSpPr/>
          <p:nvPr/>
        </p:nvGrpSpPr>
        <p:grpSpPr>
          <a:xfrm>
            <a:off x="5029200" y="1371600"/>
            <a:ext cx="3657600" cy="2331720"/>
            <a:chOff x="5029200" y="1371600"/>
            <a:chExt cx="3657600" cy="2331720"/>
          </a:xfrm>
        </p:grpSpPr>
        <p:sp>
          <p:nvSpPr>
            <p:cNvPr id="10" name="Rounded Rectangle 9"/>
            <p:cNvSpPr/>
            <p:nvPr/>
          </p:nvSpPr>
          <p:spPr>
            <a:xfrm>
              <a:off x="5029200" y="1371600"/>
              <a:ext cx="3657600" cy="2331720"/>
            </a:xfrm>
            <a:prstGeom prst="roundRect">
              <a:avLst>
                <a:gd name="adj" fmla="val 6000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</a:ln>
            <a:effectLst>
              <a:outerShdw blurRad="90000" dist="38000" dir="5400000" rotWithShape="0">
                <a:srgbClr val="0F172A">
                  <a:alpha val="9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03520" y="1536192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1" i="0" dirty="0" err="1">
                  <a:solidFill>
                    <a:srgbClr val="0D948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SciBERT</a:t>
              </a:r>
              <a:endParaRPr sz="200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303520" y="1938528"/>
              <a:ext cx="950976" cy="310896"/>
            </a:xfrm>
            <a:prstGeom prst="roundRect">
              <a:avLst>
                <a:gd name="adj" fmla="val 50000"/>
              </a:avLst>
            </a:prstGeom>
            <a:solidFill>
              <a:srgbClr val="E6F2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03520" y="1938528"/>
              <a:ext cx="950976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50" b="1" i="0" dirty="0">
                  <a:solidFill>
                    <a:srgbClr val="0D9488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baseline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03520" y="2395728"/>
              <a:ext cx="3108960" cy="1234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6000"/>
                </a:lnSpc>
              </a:pPr>
              <a:r>
                <a:rPr sz="1250" b="0" i="0">
                  <a:solidFill>
                    <a:srgbClr val="334155"/>
                  </a:solidFill>
                  <a:latin typeface="Inter"/>
                </a:rPr>
                <a:t>allenai/scibert_scivocab_uncased</a:t>
              </a:r>
            </a:p>
            <a:p>
              <a:pPr algn="l">
                <a:lnSpc>
                  <a:spcPct val="116000"/>
                </a:lnSpc>
              </a:pPr>
              <a:r>
                <a:rPr sz="1250" b="0" i="0">
                  <a:solidFill>
                    <a:srgbClr val="334155"/>
                  </a:solidFill>
                  <a:latin typeface="Inter"/>
                </a:rPr>
                <a:t>Mean-pooled token embeddings</a:t>
              </a:r>
            </a:p>
            <a:p>
              <a:pPr algn="l">
                <a:lnSpc>
                  <a:spcPct val="116000"/>
                </a:lnSpc>
              </a:pPr>
              <a:r>
                <a:rPr sz="1250" b="0" i="0">
                  <a:solidFill>
                    <a:srgbClr val="334155"/>
                  </a:solidFill>
                  <a:latin typeface="Inter"/>
                </a:rPr>
                <a:t>General scientific LM</a:t>
              </a:r>
            </a:p>
          </p:txBody>
        </p:sp>
      </p:grpSp>
      <p:sp>
        <p:nvSpPr>
          <p:cNvPr id="15" name="Oval 14"/>
          <p:cNvSpPr/>
          <p:nvPr/>
        </p:nvSpPr>
        <p:spPr>
          <a:xfrm>
            <a:off x="4315968" y="2331720"/>
            <a:ext cx="512064" cy="51206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80560" y="2496312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C6AEFC-5346-C4A1-280C-161A9E36F026}"/>
              </a:ext>
            </a:extLst>
          </p:cNvPr>
          <p:cNvGrpSpPr/>
          <p:nvPr/>
        </p:nvGrpSpPr>
        <p:grpSpPr>
          <a:xfrm>
            <a:off x="786960" y="3918255"/>
            <a:ext cx="7362710" cy="728833"/>
            <a:chOff x="904875" y="5318670"/>
            <a:chExt cx="10382250" cy="910530"/>
          </a:xfrm>
        </p:grpSpPr>
        <p:pic>
          <p:nvPicPr>
            <p:cNvPr id="20" name="Google Shape;341;p34" descr="image.png">
              <a:extLst>
                <a:ext uri="{FF2B5EF4-FFF2-40B4-BE49-F238E27FC236}">
                  <a16:creationId xmlns:a16="http://schemas.microsoft.com/office/drawing/2014/main" id="{47BA79C1-5095-3936-5D69-9BA103E22F0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4875" y="5318670"/>
              <a:ext cx="10382250" cy="9105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347;p34">
              <a:extLst>
                <a:ext uri="{FF2B5EF4-FFF2-40B4-BE49-F238E27FC236}">
                  <a16:creationId xmlns:a16="http://schemas.microsoft.com/office/drawing/2014/main" id="{C3F31669-6E32-DD04-A3FC-9F7BB52A2450}"/>
                </a:ext>
              </a:extLst>
            </p:cNvPr>
            <p:cNvSpPr txBox="1"/>
            <p:nvPr/>
          </p:nvSpPr>
          <p:spPr>
            <a:xfrm>
              <a:off x="1209675" y="5645348"/>
              <a:ext cx="19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FF9500"/>
                  </a:solidFill>
                  <a:latin typeface="Inter"/>
                  <a:ea typeface="Inter"/>
                  <a:cs typeface="Inter"/>
                  <a:sym typeface="Inter"/>
                </a:rPr>
                <a:t>◆</a:t>
              </a:r>
              <a:endParaRPr/>
            </a:p>
          </p:txBody>
        </p:sp>
        <p:sp>
          <p:nvSpPr>
            <p:cNvPr id="22" name="Google Shape;348;p34">
              <a:extLst>
                <a:ext uri="{FF2B5EF4-FFF2-40B4-BE49-F238E27FC236}">
                  <a16:creationId xmlns:a16="http://schemas.microsoft.com/office/drawing/2014/main" id="{9FB048CB-8003-2DDF-D769-1A21EEEABCE2}"/>
                </a:ext>
              </a:extLst>
            </p:cNvPr>
            <p:cNvSpPr txBox="1"/>
            <p:nvPr/>
          </p:nvSpPr>
          <p:spPr>
            <a:xfrm>
              <a:off x="1591728" y="5455332"/>
              <a:ext cx="9429899" cy="592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1" u="none" strike="noStrike" cap="none" dirty="0">
                  <a:solidFill>
                    <a:srgbClr val="424245"/>
                  </a:solidFill>
                  <a:latin typeface="Inter"/>
                  <a:ea typeface="Inter"/>
                  <a:cs typeface="Inter"/>
                  <a:sym typeface="Inter"/>
                </a:rPr>
                <a:t>Shared Pipeline Details:</a:t>
              </a:r>
              <a:r>
                <a:rPr lang="en-US" sz="1100" b="0" i="1" u="none" strike="noStrike" cap="none" dirty="0">
                  <a:solidFill>
                    <a:srgbClr val="424245"/>
                  </a:solidFill>
                  <a:latin typeface="Inter"/>
                  <a:ea typeface="Inter"/>
                  <a:cs typeface="Inter"/>
                  <a:sym typeface="Inter"/>
                </a:rPr>
                <a:t> Both architectures utilize a title </a:t>
              </a:r>
              <a:r>
                <a:rPr lang="en-US" sz="1100" b="0" i="1" u="none" strike="noStrike" cap="none" dirty="0">
                  <a:solidFill>
                    <a:schemeClr val="dk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[SEP]</a:t>
              </a:r>
              <a:r>
                <a:rPr lang="en-US" sz="1100" b="0" i="1" u="none" strike="noStrike" cap="none" dirty="0">
                  <a:solidFill>
                    <a:srgbClr val="424245"/>
                  </a:solidFill>
                  <a:latin typeface="Inter"/>
                  <a:ea typeface="Inter"/>
                  <a:cs typeface="Inter"/>
                  <a:sym typeface="Inter"/>
                </a:rPr>
                <a:t> abstract mapping → 768-d vector, generated on an A100 GPU pod. Models are frozen, off-the-shelf - no fine-tuning.</a:t>
              </a:r>
              <a:endParaRPr sz="1400" i="1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169" y="1987079"/>
            <a:ext cx="464433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8169" y="3915892"/>
            <a:ext cx="4644330" cy="82153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1" y="1987079"/>
            <a:ext cx="292804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Late fusion (score combination)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85813" y="2408560"/>
            <a:ext cx="2713732" cy="85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Each model scores a paper in its own space; we blend the two cosine scores by weight w.</a:t>
            </a:r>
            <a:endParaRPr sz="135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85813" y="3401542"/>
            <a:ext cx="2713732" cy="85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 vector concatenation - the two spaces differ (</a:t>
            </a:r>
            <a:r>
              <a:rPr lang="en-US" sz="1238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adapter+CLS</a:t>
            </a:r>
            <a:r>
              <a:rPr lang="en-US" sz="123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vs mean-pool), so scores are fused, not vectors.</a:t>
            </a:r>
            <a:endParaRPr sz="1350"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919" y="2696766"/>
            <a:ext cx="4072830" cy="295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142482" y="4097220"/>
            <a:ext cx="4215705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 = 1.0 → SPECTER2 only</a:t>
            </a:r>
            <a:endParaRPr sz="1350"/>
          </a:p>
        </p:txBody>
      </p:sp>
      <p:sp>
        <p:nvSpPr>
          <p:cNvPr id="92" name="Google Shape;92;p13"/>
          <p:cNvSpPr txBox="1"/>
          <p:nvPr/>
        </p:nvSpPr>
        <p:spPr>
          <a:xfrm>
            <a:off x="4142482" y="4382970"/>
            <a:ext cx="4215705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 = 0.0 → SciBERT only</a:t>
            </a:r>
            <a:endParaRPr sz="1350"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2372841"/>
            <a:ext cx="121444" cy="389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88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350"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3365822"/>
            <a:ext cx="121444" cy="389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88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350"/>
          </a:p>
        </p:txBody>
      </p:sp>
      <p:sp>
        <p:nvSpPr>
          <p:cNvPr id="95" name="Google Shape;95;p13"/>
          <p:cNvSpPr txBox="1"/>
          <p:nvPr/>
        </p:nvSpPr>
        <p:spPr>
          <a:xfrm>
            <a:off x="571500" y="736923"/>
            <a:ext cx="84010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 third option: hybrid late fusion</a:t>
            </a:r>
            <a:endParaRPr sz="135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571500" y="1329853"/>
            <a:ext cx="8001000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i="1" dirty="0">
                <a:solidFill>
                  <a:srgbClr val="64748B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Can the two models together beat either alone? 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3880" y="1488690"/>
            <a:ext cx="324862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3880" y="2581684"/>
            <a:ext cx="3248620" cy="19472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428625"/>
            <a:ext cx="8401050" cy="557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31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Embedding-space analysis</a:t>
            </a:r>
            <a:endParaRPr sz="135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960053"/>
            <a:ext cx="80010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i="1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Do the models cluster the four categories?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1488690"/>
            <a:ext cx="4614952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D9488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Category separation is weak - by design of the data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2112875"/>
            <a:ext cx="41951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125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Silhouette ≈ 0.013 (SPECTER2), ≈ −0.02 (</a:t>
            </a:r>
            <a:r>
              <a:rPr lang="en-US" sz="1125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SciBERT</a:t>
            </a:r>
            <a:r>
              <a:rPr lang="en-US" sz="1125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): categories do NOT form clean clusters.</a:t>
            </a:r>
            <a:endParaRPr sz="135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2741526"/>
            <a:ext cx="4195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125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Expected: the 4 CS fields overlap heavily and papers are cross-listed.</a:t>
            </a:r>
            <a:endParaRPr sz="135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3370175"/>
            <a:ext cx="41951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125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The embeddings organize papers by fine-grained topic, not by coarse category - which is why instance-level retrieval is the real strength.</a:t>
            </a:r>
            <a:endParaRPr sz="135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5609630" y="1710146"/>
            <a:ext cx="2705695" cy="181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81" b="1" dirty="0">
                <a:solidFill>
                  <a:srgbClr val="2563E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SPECTER2</a:t>
            </a:r>
            <a:r>
              <a:rPr lang="en-US" sz="1181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181" dirty="0">
                <a:solidFill>
                  <a:srgbClr val="334155"/>
                </a:solidFill>
                <a:ea typeface="Inter Medium"/>
                <a:cs typeface="Inter Medium"/>
                <a:sym typeface="Inter Medium"/>
              </a:rPr>
              <a:t>silhouette ≈ 0.013</a:t>
            </a:r>
            <a:endParaRPr sz="135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609630" y="2003040"/>
            <a:ext cx="2705695" cy="181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81" b="1" dirty="0" err="1">
                <a:solidFill>
                  <a:srgbClr val="D97706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SciBERT</a:t>
            </a:r>
            <a:r>
              <a:rPr lang="en-US" sz="1181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181" dirty="0">
                <a:solidFill>
                  <a:srgbClr val="334155"/>
                </a:solidFill>
                <a:ea typeface="Inter Medium"/>
                <a:cs typeface="Inter Medium"/>
                <a:sym typeface="Inter Medium"/>
              </a:rPr>
              <a:t>silhouette ≈ −0.022</a:t>
            </a:r>
            <a:endParaRPr sz="135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5609630" y="2803141"/>
            <a:ext cx="2840980" cy="47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68"/>
              </a:lnSpc>
            </a:pPr>
            <a:r>
              <a:rPr lang="en-US" sz="1181" dirty="0">
                <a:solidFill>
                  <a:srgbClr val="F97316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Same- vs different-category similarity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609630" y="3278870"/>
            <a:ext cx="2705695" cy="99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13" dirty="0">
                <a:solidFill>
                  <a:srgbClr val="475569"/>
                </a:solidFill>
                <a:ea typeface="Inter"/>
                <a:cs typeface="Inter"/>
                <a:sym typeface="Inter"/>
              </a:rPr>
              <a:t>Cosine distributions for same- vs different-category pairs nearly overlap - SPECTER2 shows a slight gap, </a:t>
            </a:r>
            <a:r>
              <a:rPr lang="en-US" sz="1013" dirty="0" err="1">
                <a:solidFill>
                  <a:srgbClr val="475569"/>
                </a:solidFill>
                <a:ea typeface="Inter"/>
                <a:cs typeface="Inter"/>
                <a:sym typeface="Inter"/>
              </a:rPr>
              <a:t>SciBERT</a:t>
            </a:r>
            <a:r>
              <a:rPr lang="en-US" sz="1013" dirty="0">
                <a:solidFill>
                  <a:srgbClr val="475569"/>
                </a:solidFill>
                <a:ea typeface="Inter"/>
                <a:cs typeface="Inter"/>
                <a:sym typeface="Inter"/>
              </a:rPr>
              <a:t> almost none. Primary category is not a strong axis of separation.</a:t>
            </a:r>
            <a:endParaRPr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1126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Embedding-space 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4023360" cy="2468880"/>
          </a:xfrm>
          <a:prstGeom prst="rect">
            <a:avLst/>
          </a:prstGeom>
          <a:solidFill>
            <a:srgbClr val="FAFBFD"/>
          </a:solidFill>
          <a:ln w="19050">
            <a:solidFill>
              <a:srgbClr val="5B6B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B6B82"/>
                </a:solidFill>
                <a:latin typeface="Calibri"/>
              </a:rPr>
              <a:t>[ t-SNE / PCA map — SPECTER2 ]</a:t>
            </a:r>
          </a:p>
          <a:p>
            <a:pPr algn="ctr"/>
            <a:r>
              <a:rPr sz="1050" b="0" i="1">
                <a:solidFill>
                  <a:srgbClr val="5B6B82"/>
                </a:solidFill>
                <a:latin typeface="Calibri"/>
              </a:rPr>
              <a:t>Analytics tab → Embedding space (SPECTER2),
or results/figures/projections_specter2.csv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463040"/>
            <a:ext cx="4023360" cy="2468880"/>
          </a:xfrm>
          <a:prstGeom prst="rect">
            <a:avLst/>
          </a:prstGeom>
          <a:solidFill>
            <a:srgbClr val="FAFBFD"/>
          </a:solidFill>
          <a:ln w="19050">
            <a:solidFill>
              <a:srgbClr val="5B6B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6576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B6B82"/>
                </a:solidFill>
                <a:latin typeface="Calibri"/>
              </a:rPr>
              <a:t>[ t-SNE / PCA map — SciBERT ]</a:t>
            </a:r>
          </a:p>
          <a:p>
            <a:pPr algn="ctr"/>
            <a:r>
              <a:rPr sz="1050" b="0" i="1">
                <a:solidFill>
                  <a:srgbClr val="5B6B82"/>
                </a:solidFill>
                <a:latin typeface="Calibri"/>
              </a:rPr>
              <a:t>Analytics tab → Embedding space (SciBERT),
or results/figures/projections_scibert.csv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91077E-4291-D6A6-C646-CEB80E9E2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" y="1413034"/>
            <a:ext cx="4483991" cy="260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CCEFFD-49DD-39C1-2DAD-E05C821A697F}"/>
              </a:ext>
            </a:extLst>
          </p:cNvPr>
          <p:cNvSpPr txBox="1"/>
          <p:nvPr/>
        </p:nvSpPr>
        <p:spPr>
          <a:xfrm>
            <a:off x="1622345" y="942945"/>
            <a:ext cx="644794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i="1" dirty="0">
                <a:solidFill>
                  <a:srgbClr val="11263F"/>
                </a:solidFill>
                <a:latin typeface="Calibri"/>
              </a:rPr>
              <a:t>SPECTER2				</a:t>
            </a:r>
            <a:r>
              <a:rPr lang="en-US" sz="2000" b="1" i="1" dirty="0" err="1">
                <a:solidFill>
                  <a:srgbClr val="11263F"/>
                </a:solidFill>
                <a:latin typeface="Calibri"/>
              </a:rPr>
              <a:t>SciBERT</a:t>
            </a:r>
            <a:endParaRPr sz="2000" b="1" i="1" dirty="0">
              <a:solidFill>
                <a:srgbClr val="11263F"/>
              </a:solidFill>
              <a:latin typeface="Calibri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E2CD9CC-3F3F-C1E5-6B89-F68CC5F92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895" y="1413033"/>
            <a:ext cx="4414106" cy="260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B374BB-9422-2B4C-59B9-90448BDC133D}"/>
              </a:ext>
            </a:extLst>
          </p:cNvPr>
          <p:cNvSpPr txBox="1"/>
          <p:nvPr/>
        </p:nvSpPr>
        <p:spPr>
          <a:xfrm>
            <a:off x="335041" y="4051905"/>
            <a:ext cx="644794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i="1" dirty="0"/>
              <a:t>6,000-paper stratified sample, colored by category</a:t>
            </a:r>
            <a:endParaRPr sz="1400" b="1" i="1" dirty="0">
              <a:solidFill>
                <a:srgbClr val="11263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Recommendation Engine</a:t>
            </a:r>
            <a:endParaRPr lang="en-US" sz="3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Recommendation engine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Work package: Recommender System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 w="12700">
            <a:solidFill>
              <a:srgbClr val="1D7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151790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(title / free text)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75104" y="1325880"/>
            <a:ext cx="118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93976" y="132588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 w="12700">
            <a:solidFill>
              <a:srgbClr val="1D7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93976" y="1325880"/>
            <a:ext cx="151790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1325880"/>
            <a:ext cx="118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30752" y="132588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 w="12700">
            <a:solidFill>
              <a:srgbClr val="1D7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325880"/>
            <a:ext cx="151790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50k corpus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48656" y="1325880"/>
            <a:ext cx="118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67528" y="132588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 w="12700">
            <a:solidFill>
              <a:srgbClr val="1D7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1325880"/>
            <a:ext cx="151790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(title mode)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85432" y="1325880"/>
            <a:ext cx="118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04304" y="132588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FFF4E6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1325880"/>
            <a:ext cx="151790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1263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 =  cosine similarity  </a:t>
            </a:r>
            <a:r>
              <a:rPr lang="en-US" sz="1800" b="1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(1 + </a:t>
            </a:r>
            <a:r>
              <a:rPr lang="el-GR" sz="1800" b="1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n-US" sz="1800" b="1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same-category)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D7DF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Two search modes</a:t>
            </a:r>
            <a:endParaRPr lang="en-US" sz="14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- fuzzy-match a known paper, recommend similar work.</a:t>
            </a:r>
            <a:endParaRPr lang="en-US" sz="145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- rank on pure cosine. Plus hard filters by category &amp; year.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8C0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Display metadata only</a:t>
            </a:r>
            <a:endParaRPr lang="en-US" sz="14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tags and citations are shown but do NOT change the ranking (apart from the boost).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D48B6-964F-D4D7-BA5F-8CA34D3D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F4F623-3B30-A66F-9B43-CCABE912A09C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Recommendation engine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904E1C-D1F6-7E11-A48B-7EF436FFA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7" y="898375"/>
            <a:ext cx="7022306" cy="3833466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FEBE6D-E235-7E61-A117-CAED01D657C5}"/>
              </a:ext>
            </a:extLst>
          </p:cNvPr>
          <p:cNvCxnSpPr/>
          <p:nvPr/>
        </p:nvCxnSpPr>
        <p:spPr>
          <a:xfrm>
            <a:off x="6379369" y="1821656"/>
            <a:ext cx="0" cy="1928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208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Transparent by design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Every recommendation explains itself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97680" cy="2753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“Why was this recommended?”</a:t>
            </a:r>
          </a:p>
          <a:p>
            <a:pPr marL="0" indent="0">
              <a:spcAft>
                <a:spcPts val="400"/>
              </a:spcAft>
              <a:buNone/>
            </a:pPr>
            <a:endParaRPr lang="en-US" sz="14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Each result card shows its cosine score, final score, and whether the category boost applied.</a:t>
            </a: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It lists the paper's key concepts and any keywords overlapping the query.</a:t>
            </a: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Ranking = similarity + boost; keywords are shown for context only - the card says so explicitly.</a:t>
            </a: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177800" indent="-177800"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Title mode also shows a “your search matched” confirmation box.</a:t>
            </a:r>
            <a:endParaRPr lang="en-US" sz="1400" dirty="0"/>
          </a:p>
        </p:txBody>
      </p:sp>
      <p:pic>
        <p:nvPicPr>
          <p:cNvPr id="10" name="Google Shape;421;p38" descr="image.png">
            <a:extLst>
              <a:ext uri="{FF2B5EF4-FFF2-40B4-BE49-F238E27FC236}">
                <a16:creationId xmlns:a16="http://schemas.microsoft.com/office/drawing/2014/main" id="{35C8668C-782D-1742-09BA-55D0130332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2031" y="1116696"/>
            <a:ext cx="4164769" cy="34195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Google Shape;422;p38" descr="image.png">
            <a:extLst>
              <a:ext uri="{FF2B5EF4-FFF2-40B4-BE49-F238E27FC236}">
                <a16:creationId xmlns:a16="http://schemas.microsoft.com/office/drawing/2014/main" id="{9C146CA9-96B2-8952-C98B-41B6E3AB11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4388" y="2753767"/>
            <a:ext cx="3709987" cy="141714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424;p38">
            <a:extLst>
              <a:ext uri="{FF2B5EF4-FFF2-40B4-BE49-F238E27FC236}">
                <a16:creationId xmlns:a16="http://schemas.microsoft.com/office/drawing/2014/main" id="{7BC22D75-F37B-E0B7-9BBA-A2F6F1F9C3EA}"/>
              </a:ext>
            </a:extLst>
          </p:cNvPr>
          <p:cNvSpPr txBox="1"/>
          <p:nvPr/>
        </p:nvSpPr>
        <p:spPr>
          <a:xfrm>
            <a:off x="5454150" y="881096"/>
            <a:ext cx="4414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86868B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RESULT CARD (SCHEMATIC)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Google Shape;431;p38">
            <a:extLst>
              <a:ext uri="{FF2B5EF4-FFF2-40B4-BE49-F238E27FC236}">
                <a16:creationId xmlns:a16="http://schemas.microsoft.com/office/drawing/2014/main" id="{DE6807A4-0223-B36E-596A-B11CCADDB85B}"/>
              </a:ext>
            </a:extLst>
          </p:cNvPr>
          <p:cNvSpPr txBox="1"/>
          <p:nvPr/>
        </p:nvSpPr>
        <p:spPr>
          <a:xfrm>
            <a:off x="5367300" y="1223092"/>
            <a:ext cx="3895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D1D1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Attention Is All You Need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Google Shape;432;p38">
            <a:extLst>
              <a:ext uri="{FF2B5EF4-FFF2-40B4-BE49-F238E27FC236}">
                <a16:creationId xmlns:a16="http://schemas.microsoft.com/office/drawing/2014/main" id="{C20798A8-5627-6A76-64AE-4BEC15ADB758}"/>
              </a:ext>
            </a:extLst>
          </p:cNvPr>
          <p:cNvSpPr txBox="1"/>
          <p:nvPr/>
        </p:nvSpPr>
        <p:spPr>
          <a:xfrm>
            <a:off x="4924388" y="1620292"/>
            <a:ext cx="3710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86868B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cs.LG</a:t>
            </a:r>
            <a:r>
              <a:rPr lang="en-US" sz="1050" b="0" i="0" u="none" strike="noStrike" cap="none" dirty="0">
                <a:solidFill>
                  <a:srgbClr val="86868B"/>
                </a:solidFill>
                <a:latin typeface="Poppins" panose="00000500000000000000" pitchFamily="2" charset="0"/>
                <a:ea typeface="Inter Medium"/>
                <a:cs typeface="Poppins" panose="00000500000000000000" pitchFamily="2" charset="0"/>
                <a:sym typeface="Inter Medium"/>
              </a:rPr>
              <a:t> · 2021 · 1240 citations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Google Shape;433;p38" descr="image.png">
            <a:extLst>
              <a:ext uri="{FF2B5EF4-FFF2-40B4-BE49-F238E27FC236}">
                <a16:creationId xmlns:a16="http://schemas.microsoft.com/office/drawing/2014/main" id="{F1B96CA2-6E8E-E7C0-F3D4-0B538344DC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4388" y="2010817"/>
            <a:ext cx="1114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434;p38" descr="image.png">
            <a:extLst>
              <a:ext uri="{FF2B5EF4-FFF2-40B4-BE49-F238E27FC236}">
                <a16:creationId xmlns:a16="http://schemas.microsoft.com/office/drawing/2014/main" id="{4AD61F9F-B1D0-0D25-0394-85BC79DDB2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5013" y="2010817"/>
            <a:ext cx="1000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35;p38" descr="image.png">
            <a:extLst>
              <a:ext uri="{FF2B5EF4-FFF2-40B4-BE49-F238E27FC236}">
                <a16:creationId xmlns:a16="http://schemas.microsoft.com/office/drawing/2014/main" id="{B2EEDA61-1942-F9A8-D36F-CE16F54E447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91338" y="2010817"/>
            <a:ext cx="12287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436;p38">
            <a:extLst>
              <a:ext uri="{FF2B5EF4-FFF2-40B4-BE49-F238E27FC236}">
                <a16:creationId xmlns:a16="http://schemas.microsoft.com/office/drawing/2014/main" id="{1C3A162A-025E-224C-46A0-2D66A1337EA9}"/>
              </a:ext>
            </a:extLst>
          </p:cNvPr>
          <p:cNvSpPr txBox="1"/>
          <p:nvPr/>
        </p:nvSpPr>
        <p:spPr>
          <a:xfrm>
            <a:off x="5124413" y="2953792"/>
            <a:ext cx="330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9500"/>
                </a:solidFill>
                <a:latin typeface="Poppins" panose="00000500000000000000" pitchFamily="2" charset="0"/>
                <a:ea typeface="Inter SemiBold"/>
                <a:cs typeface="Poppins" panose="00000500000000000000" pitchFamily="2" charset="0"/>
                <a:sym typeface="Inter SemiBold"/>
              </a:rPr>
              <a:t>▼ Why was this recommended?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Google Shape;437;p38">
            <a:extLst>
              <a:ext uri="{FF2B5EF4-FFF2-40B4-BE49-F238E27FC236}">
                <a16:creationId xmlns:a16="http://schemas.microsoft.com/office/drawing/2014/main" id="{0C4AE92C-2953-ABFD-F282-BFDA61A7DADB}"/>
              </a:ext>
            </a:extLst>
          </p:cNvPr>
          <p:cNvSpPr txBox="1"/>
          <p:nvPr/>
        </p:nvSpPr>
        <p:spPr>
          <a:xfrm>
            <a:off x="5124413" y="3258592"/>
            <a:ext cx="3309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24245"/>
                </a:solidFill>
                <a:ea typeface="Inter"/>
                <a:cs typeface="Inter"/>
                <a:sym typeface="Inter"/>
              </a:rPr>
              <a:t>• Ranked by semantic similarity (0.812)</a:t>
            </a:r>
            <a:endParaRPr dirty="0"/>
          </a:p>
        </p:txBody>
      </p:sp>
      <p:sp>
        <p:nvSpPr>
          <p:cNvPr id="20" name="Google Shape;438;p38">
            <a:extLst>
              <a:ext uri="{FF2B5EF4-FFF2-40B4-BE49-F238E27FC236}">
                <a16:creationId xmlns:a16="http://schemas.microsoft.com/office/drawing/2014/main" id="{92296D80-432A-8C1C-53B1-B746E9D05913}"/>
              </a:ext>
            </a:extLst>
          </p:cNvPr>
          <p:cNvSpPr txBox="1"/>
          <p:nvPr/>
        </p:nvSpPr>
        <p:spPr>
          <a:xfrm>
            <a:off x="5124413" y="3521422"/>
            <a:ext cx="3309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24245"/>
                </a:solidFill>
                <a:ea typeface="Inter"/>
                <a:cs typeface="Inter"/>
                <a:sym typeface="Inter"/>
              </a:rPr>
              <a:t>• Category boost applied (</a:t>
            </a:r>
            <a:r>
              <a:rPr lang="en-US" sz="1050" b="0" i="0" u="none" strike="noStrike" cap="none" dirty="0" err="1">
                <a:solidFill>
                  <a:srgbClr val="424245"/>
                </a:solidFill>
                <a:ea typeface="Inter"/>
                <a:cs typeface="Inter"/>
                <a:sym typeface="Inter"/>
              </a:rPr>
              <a:t>cs.LG</a:t>
            </a:r>
            <a:r>
              <a:rPr lang="en-US" sz="1050" b="0" i="0" u="none" strike="noStrike" cap="none" dirty="0">
                <a:solidFill>
                  <a:srgbClr val="424245"/>
                </a:solidFill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21" name="Google Shape;439;p38">
            <a:extLst>
              <a:ext uri="{FF2B5EF4-FFF2-40B4-BE49-F238E27FC236}">
                <a16:creationId xmlns:a16="http://schemas.microsoft.com/office/drawing/2014/main" id="{E306B080-70A8-230F-4DF2-A04743EF4F22}"/>
              </a:ext>
            </a:extLst>
          </p:cNvPr>
          <p:cNvSpPr txBox="1"/>
          <p:nvPr/>
        </p:nvSpPr>
        <p:spPr>
          <a:xfrm>
            <a:off x="5124413" y="3784252"/>
            <a:ext cx="3309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2424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• Overlapping: transformers, attention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Experiments &amp; Evaluation</a:t>
            </a:r>
            <a:endParaRPr lang="en-US" sz="3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F17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Evaluation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Two independent ground truths - plus a fusion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30936" y="165506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3524" y="1826971"/>
            <a:ext cx="155448" cy="76809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02386" y="1826971"/>
            <a:ext cx="0" cy="25603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" y="1826971"/>
            <a:ext cx="0" cy="25603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0110" y="1826971"/>
            <a:ext cx="0" cy="25603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1371600"/>
            <a:ext cx="2240280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Proxy 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3703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463040"/>
            <a:ext cx="33375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334155"/>
                </a:solidFill>
              </a:rPr>
              <a:t>Automatic ground truth on a 2026 temporal hold-out: a hit shares the query's category AND a keyword. Cheap &amp; reproducible.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371600"/>
            <a:ext cx="1554480" cy="98755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463040"/>
            <a:ext cx="12801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Used to choose the configuration</a:t>
            </a:r>
            <a:r>
              <a:rPr sz="1050" b="1" i="0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87168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0936" y="2770632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9068" y="2918764"/>
            <a:ext cx="113385" cy="113385"/>
          </a:xfrm>
          <a:prstGeom prst="ellipse">
            <a:avLst/>
          </a:prstGeom>
          <a:noFill/>
          <a:ln w="228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859536" y="2999232"/>
            <a:ext cx="54864" cy="54864"/>
          </a:xfrm>
          <a:prstGeom prst="line">
            <a:avLst/>
          </a:prstGeom>
          <a:ln w="2540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0976" y="2487168"/>
            <a:ext cx="2240280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0F76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Known-item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2487168"/>
            <a:ext cx="3703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8728" y="2578608"/>
            <a:ext cx="33375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334155"/>
                </a:solidFill>
              </a:rPr>
              <a:t>Provenance ground truth: each query is generated from a source paper, so that paper is the one relevant result. Clean, label-free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2487168"/>
            <a:ext cx="1554480" cy="98755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2578608"/>
            <a:ext cx="12801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Primary headline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02736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6" y="3886200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68096" y="4041648"/>
            <a:ext cx="73152" cy="54864"/>
          </a:xfrm>
          <a:prstGeom prst="line">
            <a:avLst/>
          </a:prstGeom>
          <a:ln w="2159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6" y="4096512"/>
            <a:ext cx="73152" cy="54864"/>
          </a:xfrm>
          <a:prstGeom prst="line">
            <a:avLst/>
          </a:prstGeom>
          <a:ln w="2159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1248" y="4096512"/>
            <a:ext cx="76810" cy="0"/>
          </a:xfrm>
          <a:prstGeom prst="line">
            <a:avLst/>
          </a:prstGeom>
          <a:ln w="2159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96112" y="4080052"/>
            <a:ext cx="32918" cy="3291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3602736"/>
            <a:ext cx="2240280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59E0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Hybrid late-fusion sweep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602736"/>
            <a:ext cx="3703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38728" y="3694176"/>
            <a:ext cx="33375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 dirty="0">
                <a:solidFill>
                  <a:srgbClr val="334155"/>
                </a:solidFill>
              </a:rPr>
              <a:t>Blends SPECTER2 + </a:t>
            </a:r>
            <a:r>
              <a:rPr sz="1100" b="0" i="0" dirty="0" err="1">
                <a:solidFill>
                  <a:srgbClr val="334155"/>
                </a:solidFill>
              </a:rPr>
              <a:t>SciBERT</a:t>
            </a:r>
            <a:r>
              <a:rPr sz="1100" b="0" i="0" dirty="0">
                <a:solidFill>
                  <a:srgbClr val="334155"/>
                </a:solidFill>
              </a:rPr>
              <a:t> scores across weights to test whether two models beat one</a:t>
            </a:r>
            <a:r>
              <a:rPr sz="1100" b="0" i="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3602736"/>
            <a:ext cx="1554480" cy="98755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9480" y="3694176"/>
            <a:ext cx="12801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 dirty="0">
                <a:solidFill>
                  <a:srgbClr val="F59E0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Marginal-gain study</a:t>
            </a:r>
            <a:endParaRPr lang="en-US" sz="1050" b="1" i="0" dirty="0">
              <a:solidFill>
                <a:srgbClr val="2563E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BCC9EBA1-0773-EF15-7128-699CF07AE96D}"/>
              </a:ext>
            </a:extLst>
          </p:cNvPr>
          <p:cNvSpPr/>
          <p:nvPr/>
        </p:nvSpPr>
        <p:spPr>
          <a:xfrm>
            <a:off x="4908449" y="1571625"/>
            <a:ext cx="4064102" cy="274319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28625"/>
            <a:ext cx="8401050" cy="4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38" b="1" dirty="0">
                <a:solidFill>
                  <a:srgbClr val="0B192C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Proxy experiments - method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950119"/>
            <a:ext cx="8001000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i="1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An automatic, reproducible second evaluation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457325"/>
            <a:ext cx="433694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Temporal hold-out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407444"/>
            <a:ext cx="433694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Automatic relevance rule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357563"/>
            <a:ext cx="433694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Purpose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387727" y="1714500"/>
            <a:ext cx="307397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Four sub-experiments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71526" y="1795012"/>
            <a:ext cx="3930401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Corpus = papers up to 2025; queries = 2026 papers (8,330) - a realistic “retrieve prior work” setup.</a:t>
            </a:r>
            <a:endParaRPr sz="120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71526" y="2752275"/>
            <a:ext cx="3930401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A retrieved paper counts as relevant if it shares the query's category AND at least one </a:t>
            </a:r>
            <a:r>
              <a:rPr lang="en-US" sz="1100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KeyBERT</a:t>
            </a:r>
            <a:r>
              <a:rPr lang="en-US" sz="11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tag.</a:t>
            </a:r>
            <a:endParaRPr sz="120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771526" y="3702394"/>
            <a:ext cx="3930401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Cheap and fully reproducible - used to choose model, distance metric and boost.</a:t>
            </a:r>
            <a:endParaRPr sz="12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387726" y="2093119"/>
            <a:ext cx="2927598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1. Model × distance</a:t>
            </a: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069" dirty="0">
                <a:solidFill>
                  <a:srgbClr val="334155"/>
                </a:solidFill>
                <a:ea typeface="Inter"/>
                <a:cs typeface="Poppins" panose="00000500000000000000" pitchFamily="2" charset="0"/>
                <a:sym typeface="Inter"/>
              </a:rPr>
              <a:t>SPECTER2 vs </a:t>
            </a:r>
            <a:r>
              <a:rPr lang="en-US" sz="1069" dirty="0" err="1">
                <a:solidFill>
                  <a:srgbClr val="334155"/>
                </a:solidFill>
                <a:ea typeface="Inter"/>
                <a:cs typeface="Poppins" panose="00000500000000000000" pitchFamily="2" charset="0"/>
                <a:sym typeface="Inter"/>
              </a:rPr>
              <a:t>SciBERT</a:t>
            </a:r>
            <a:r>
              <a:rPr lang="en-US" sz="1069" dirty="0">
                <a:solidFill>
                  <a:srgbClr val="334155"/>
                </a:solidFill>
                <a:ea typeface="Inter"/>
                <a:cs typeface="Poppins" panose="00000500000000000000" pitchFamily="2" charset="0"/>
                <a:sym typeface="Inter"/>
              </a:rPr>
              <a:t>; cosine vs Euclidean.</a:t>
            </a:r>
            <a:endParaRPr sz="1350" dirty="0">
              <a:cs typeface="Poppins" panose="00000500000000000000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387726" y="2643188"/>
            <a:ext cx="2927598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2. α sweep</a:t>
            </a: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069" dirty="0">
                <a:solidFill>
                  <a:srgbClr val="334155"/>
                </a:solidFill>
                <a:ea typeface="Inter"/>
                <a:cs typeface="Poppins" panose="00000500000000000000" pitchFamily="2" charset="0"/>
                <a:sym typeface="Inter"/>
              </a:rPr>
              <a:t>how strong the category boost should be.</a:t>
            </a:r>
            <a:endParaRPr sz="1350" dirty="0">
              <a:cs typeface="Poppins" panose="00000500000000000000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387726" y="3193257"/>
            <a:ext cx="2927598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3. Per-category</a:t>
            </a: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069" dirty="0">
                <a:solidFill>
                  <a:srgbClr val="334155"/>
                </a:solidFill>
                <a:ea typeface="Inter"/>
                <a:cs typeface="Poppins" panose="00000500000000000000" pitchFamily="2" charset="0"/>
                <a:sym typeface="Inter"/>
              </a:rPr>
              <a:t>which fields are easier to retrieve.</a:t>
            </a:r>
            <a:endParaRPr sz="1350" dirty="0">
              <a:cs typeface="Poppins" panose="00000500000000000000" pitchFamily="2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387726" y="3743326"/>
            <a:ext cx="2927598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4. Boost vs restrict</a:t>
            </a: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</a:t>
            </a:r>
            <a:r>
              <a:rPr lang="en-US" sz="1069" dirty="0">
                <a:solidFill>
                  <a:srgbClr val="334155"/>
                </a:solidFill>
                <a:ea typeface="Inter"/>
                <a:cs typeface="Poppins" panose="00000500000000000000" pitchFamily="2" charset="0"/>
                <a:sym typeface="Inter"/>
              </a:rPr>
              <a:t>soft boost vs a hard same-category filter.</a:t>
            </a:r>
            <a:endParaRPr sz="1350" dirty="0">
              <a:cs typeface="Poppins" panose="00000500000000000000" pitchFamily="2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71500" y="1735932"/>
            <a:ext cx="114300" cy="36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2686050"/>
            <a:ext cx="114300" cy="36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100" name="Google Shape;100;p13"/>
          <p:cNvSpPr txBox="1"/>
          <p:nvPr/>
        </p:nvSpPr>
        <p:spPr>
          <a:xfrm>
            <a:off x="571500" y="3636169"/>
            <a:ext cx="114300" cy="36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1126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category boost &amp; 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480560" cy="2526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idea</a:t>
            </a:r>
          </a:p>
          <a:p>
            <a:pPr marL="171450" indent="-171450" algn="l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100" b="0" i="0" dirty="0">
                <a:solidFill>
                  <a:srgbClr val="1A2333"/>
                </a:solidFill>
                <a:latin typeface="Calibri"/>
              </a:rPr>
              <a:t> A paper in the SAME </a:t>
            </a:r>
            <a:r>
              <a:rPr sz="1100" b="0" i="0" dirty="0" err="1">
                <a:solidFill>
                  <a:srgbClr val="1A2333"/>
                </a:solidFill>
                <a:latin typeface="Calibri"/>
              </a:rPr>
              <a:t>arXiv</a:t>
            </a:r>
            <a:r>
              <a:rPr sz="1100" b="0" i="0" dirty="0">
                <a:solidFill>
                  <a:srgbClr val="1A2333"/>
                </a:solidFill>
                <a:latin typeface="Calibri"/>
              </a:rPr>
              <a:t> category as the query is a little more likely relevant </a:t>
            </a:r>
            <a:r>
              <a:rPr lang="en-US" sz="1100" b="0" i="0" dirty="0">
                <a:solidFill>
                  <a:srgbClr val="1A2333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1A2333"/>
                </a:solidFill>
                <a:latin typeface="Calibri"/>
              </a:rPr>
              <a:t> so nudge it up, without hiding strong cross-category matches.</a:t>
            </a:r>
            <a:endParaRPr lang="en-US" sz="1100" b="0" i="0" dirty="0">
              <a:solidFill>
                <a:srgbClr val="1A2333"/>
              </a:solidFill>
              <a:latin typeface="Calibri"/>
            </a:endParaRPr>
          </a:p>
          <a:p>
            <a:pPr marL="171450" indent="-171450" algn="l">
              <a:spcAft>
                <a:spcPts val="500"/>
              </a:spcAft>
              <a:buFont typeface="Wingdings" panose="05000000000000000000" pitchFamily="2" charset="2"/>
              <a:buChar char="Ø"/>
            </a:pPr>
            <a:endParaRPr sz="1100" b="0" i="0" dirty="0">
              <a:solidFill>
                <a:srgbClr val="1A23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5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words</a:t>
            </a:r>
          </a:p>
          <a:p>
            <a:pPr marL="171450" indent="-171450" algn="l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100" b="0" i="0" dirty="0">
                <a:solidFill>
                  <a:srgbClr val="1A2333"/>
                </a:solidFill>
                <a:latin typeface="Calibri"/>
              </a:rPr>
              <a:t> Multiply each paper's cosine score by a small bonus if it shares the query's category.</a:t>
            </a:r>
            <a:endParaRPr lang="en-US" sz="1100" b="0" i="0" dirty="0">
              <a:solidFill>
                <a:srgbClr val="1A2333"/>
              </a:solidFill>
              <a:latin typeface="Calibri"/>
            </a:endParaRPr>
          </a:p>
          <a:p>
            <a:pPr marL="171450" indent="-171450" algn="l">
              <a:spcAft>
                <a:spcPts val="500"/>
              </a:spcAft>
              <a:buFont typeface="Wingdings" panose="05000000000000000000" pitchFamily="2" charset="2"/>
              <a:buChar char="Ø"/>
            </a:pPr>
            <a:endParaRPr sz="1100" b="0" i="0" dirty="0">
              <a:solidFill>
                <a:srgbClr val="1A23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5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α = how big the nudge is</a:t>
            </a:r>
          </a:p>
          <a:p>
            <a:pPr marL="171450" indent="-171450" algn="l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100" b="0" i="0" dirty="0">
                <a:solidFill>
                  <a:srgbClr val="1A2333"/>
                </a:solidFill>
                <a:latin typeface="Calibri"/>
              </a:rPr>
              <a:t> α = 0 → no boost (pure cosine); larger α → stronger same-category preference. The sweep finds the best 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554480"/>
            <a:ext cx="3566160" cy="1371600"/>
          </a:xfrm>
          <a:prstGeom prst="roundRect">
            <a:avLst/>
          </a:prstGeom>
          <a:solidFill>
            <a:srgbClr val="11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0" y="1554480"/>
            <a:ext cx="3566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final = cosine × (1 + </a:t>
            </a:r>
            <a:r>
              <a:rPr sz="1800" b="1" i="0">
                <a:solidFill>
                  <a:srgbClr val="FF8C00"/>
                </a:solidFill>
                <a:latin typeface="Calibri"/>
              </a:rPr>
              <a:t>α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 × same-category)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223260"/>
            <a:ext cx="2930366" cy="104709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 dirty="0">
                <a:solidFill>
                  <a:srgbClr val="1A2333"/>
                </a:solidFill>
              </a:rPr>
              <a:t>cosine</a:t>
            </a:r>
            <a:r>
              <a:rPr sz="1100" b="1" i="0" dirty="0">
                <a:solidFill>
                  <a:srgbClr val="1A2333"/>
                </a:solidFill>
              </a:rPr>
              <a:t> </a:t>
            </a:r>
            <a:r>
              <a:rPr lang="en-US" sz="1100" b="1" i="0" dirty="0">
                <a:solidFill>
                  <a:srgbClr val="5B6B82"/>
                </a:solidFill>
              </a:rPr>
              <a:t>-</a:t>
            </a:r>
            <a:r>
              <a:rPr sz="1100" b="0" i="0" dirty="0">
                <a:solidFill>
                  <a:srgbClr val="5B6B82"/>
                </a:solidFill>
              </a:rPr>
              <a:t> semantic similarity (0–1)</a:t>
            </a:r>
            <a:endParaRPr lang="en-US" sz="1100" b="0" i="0" dirty="0">
              <a:solidFill>
                <a:srgbClr val="5B6B82"/>
              </a:solidFill>
            </a:endParaRPr>
          </a:p>
          <a:p>
            <a:pPr algn="l">
              <a:spcAft>
                <a:spcPts val="300"/>
              </a:spcAft>
            </a:pPr>
            <a:endParaRPr sz="1250" b="0" i="0" dirty="0">
              <a:solidFill>
                <a:srgbClr val="5B6B82"/>
              </a:solidFill>
            </a:endParaRPr>
          </a:p>
          <a:p>
            <a:pPr algn="l">
              <a:spcAft>
                <a:spcPts val="300"/>
              </a:spcAft>
            </a:pPr>
            <a:r>
              <a:rPr sz="1250" b="1" i="0" dirty="0">
                <a:solidFill>
                  <a:srgbClr val="1A2333"/>
                </a:solidFill>
              </a:rPr>
              <a:t>same-category </a:t>
            </a:r>
            <a:r>
              <a:rPr lang="en-US" sz="1250" dirty="0">
                <a:solidFill>
                  <a:srgbClr val="5B6B82"/>
                </a:solidFill>
              </a:rPr>
              <a:t>-</a:t>
            </a:r>
            <a:r>
              <a:rPr sz="1250" b="0" i="0" dirty="0">
                <a:solidFill>
                  <a:srgbClr val="5B6B82"/>
                </a:solidFill>
              </a:rPr>
              <a:t> </a:t>
            </a:r>
            <a:r>
              <a:rPr sz="1100" b="0" i="0" dirty="0">
                <a:solidFill>
                  <a:srgbClr val="5B6B82"/>
                </a:solidFill>
              </a:rPr>
              <a:t>1 if same category, else 0</a:t>
            </a:r>
          </a:p>
          <a:p>
            <a:pPr algn="l"/>
            <a:r>
              <a:rPr sz="1100" b="1" i="0" dirty="0">
                <a:solidFill>
                  <a:srgbClr val="FF8C00"/>
                </a:solidFill>
              </a:rPr>
              <a:t>α </a:t>
            </a:r>
            <a:r>
              <a:rPr lang="en-US" sz="1100" dirty="0">
                <a:solidFill>
                  <a:srgbClr val="5B6B82"/>
                </a:solidFill>
              </a:rPr>
              <a:t>-</a:t>
            </a:r>
            <a:r>
              <a:rPr sz="1100" b="0" i="0" dirty="0">
                <a:solidFill>
                  <a:srgbClr val="5B6B82"/>
                </a:solidFill>
              </a:rPr>
              <a:t> boost strength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Proxy - model &amp; distance metric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NDCG@10 on the 2026 proxy hold-out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766688749"/>
              </p:ext>
            </p:extLst>
          </p:nvPr>
        </p:nvGraphicFramePr>
        <p:xfrm>
          <a:off x="457200" y="146304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283464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endParaRPr lang="en-US" sz="1450" b="1" dirty="0">
              <a:solidFill>
                <a:srgbClr val="0D94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Findings</a:t>
            </a:r>
          </a:p>
          <a:p>
            <a:pPr marL="285750" indent="-285750" algn="ctr">
              <a:spcAft>
                <a:spcPts val="400"/>
              </a:spcAft>
              <a:buFont typeface="Wingdings" panose="05000000000000000000" pitchFamily="2" charset="2"/>
              <a:buChar char="Ø"/>
            </a:pPr>
            <a:endParaRPr lang="en-US" sz="1450" dirty="0">
              <a:solidFill>
                <a:srgbClr val="0D9488"/>
              </a:solidFill>
            </a:endParaRP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Poppins" panose="00000500000000000000" pitchFamily="2" charset="0"/>
              </a:rPr>
              <a:t>SPECTER2 ≈ 2.4× SciBERT on the proxy too - the model gap is consistent across both evaluations.</a:t>
            </a: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200" dirty="0">
              <a:cs typeface="Poppins" panose="00000500000000000000" pitchFamily="2" charset="0"/>
            </a:endParaRPr>
          </a:p>
          <a:p>
            <a:pPr marL="177800" indent="-177800"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Poppins" panose="00000500000000000000" pitchFamily="2" charset="0"/>
              </a:rPr>
              <a:t>Cosine ≈ Euclidean (the embeddings are L2-normalised), so cosine is used.</a:t>
            </a:r>
            <a:endParaRPr lang="en-US" sz="1200" dirty="0"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Proxy - category-boost α sweep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Global NDCG@10 vs boost strength - the knee is at α = 0.03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957387"/>
            <a:ext cx="2814638" cy="19645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knee is at α = 0.03</a:t>
            </a:r>
          </a:p>
          <a:p>
            <a:pPr marL="285750" indent="-285750" algn="ctr">
              <a:spcAft>
                <a:spcPts val="400"/>
              </a:spcAft>
              <a:buFont typeface="Wingdings" panose="05000000000000000000" pitchFamily="2" charset="2"/>
              <a:buChar char="Ø"/>
            </a:pPr>
            <a:endParaRPr lang="en-US" sz="14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NDCG@10 jumps 0.120 → 0.165 by α = 0.03, then plateaus at ~0.166.</a:t>
            </a:r>
          </a:p>
          <a:p>
            <a:pPr marL="177800" indent="-1778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7800" indent="-177800"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A small boost captures almost all the gain without distorting semantic ranking - so the app uses 0.03.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- per-category difficulty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NDCG@10 by category (no boost)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634520753"/>
              </p:ext>
            </p:extLst>
          </p:nvPr>
        </p:nvGraphicFramePr>
        <p:xfrm>
          <a:off x="457200" y="1463040"/>
          <a:ext cx="5212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283464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endParaRPr lang="en-US" sz="1450" b="1" dirty="0">
              <a:solidFill>
                <a:srgbClr val="0D9488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Some fields are easier</a:t>
            </a:r>
          </a:p>
          <a:p>
            <a:pPr marL="0" indent="0" algn="ctr">
              <a:spcAft>
                <a:spcPts val="400"/>
              </a:spcAft>
              <a:buNone/>
            </a:pPr>
            <a:endParaRPr lang="en-US" sz="14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cs.CV (0.184) and cs.LG (0.143) retrieve best; cs.AI (0.097) is hardest - it is the largest, most topically diverse category.</a:t>
            </a: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45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counts per category: AI 4,541 · LG 1,858 · CV 1,050 · CL 881.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Proxy - boost vs hard restriction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Does a soft boost match forcing same-category results?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24323625"/>
              </p:ext>
            </p:extLst>
          </p:nvPr>
        </p:nvGraphicFramePr>
        <p:xfrm>
          <a:off x="457200" y="146304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283464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Soft boost ≈ hard restriction</a:t>
            </a:r>
          </a:p>
          <a:p>
            <a:pPr marL="0" indent="0">
              <a:spcAft>
                <a:spcPts val="400"/>
              </a:spcAft>
              <a:buNone/>
            </a:pPr>
            <a:endParaRPr lang="en-US" sz="14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α = 0.03 boost (0.165) reaches almost exactly the same proxy NDCG@10 as forcing same-category retrieval (0.166).</a:t>
            </a: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boost keeps cross-category results possible - best of both: relevance lift without locking the user into one field.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0124" y="1457326"/>
            <a:ext cx="3292376" cy="216143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28625"/>
            <a:ext cx="8401050" cy="4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38" b="1" dirty="0">
                <a:solidFill>
                  <a:srgbClr val="0B192C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Why moved to known-item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950119"/>
            <a:ext cx="8001000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i="1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From a useful heuristic to objective ground truth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457325"/>
            <a:ext cx="44939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The limit of the proxy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64512" y="3183652"/>
            <a:ext cx="449399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The known-item idea</a:t>
            </a:r>
            <a:endParaRPr sz="1350" b="1" dirty="0">
              <a:solidFill>
                <a:srgbClr val="0D9488"/>
              </a:solidFill>
              <a:latin typeface="Poppins" panose="00000500000000000000" pitchFamily="2" charset="0"/>
              <a:ea typeface="Inter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573018" y="1749930"/>
            <a:ext cx="284191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Proxy → Known-item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8512" y="1853804"/>
            <a:ext cx="4079974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“Same category + shared tag” only approximates relevance - two papers can share a tag yet be unrelated, or be relevant without sharing one.</a:t>
            </a:r>
            <a:endParaRPr sz="135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2489597"/>
            <a:ext cx="4079974" cy="24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Good for choosing configurations, but not a clean headline measure.</a:t>
            </a:r>
            <a:endParaRPr sz="135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3454003"/>
            <a:ext cx="4079974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Generate a query FROM a known paper. The system should return THAT paper - the one guaranteed-relevant answer. No labels, no heuristic.</a:t>
            </a:r>
            <a:endParaRPr sz="135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5573018" y="2157413"/>
            <a:ext cx="270658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Proxy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573018" y="2371725"/>
            <a:ext cx="270658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1013" dirty="0">
                <a:solidFill>
                  <a:srgbClr val="64748B"/>
                </a:solidFill>
                <a:ea typeface="Inter"/>
                <a:cs typeface="Inter"/>
                <a:sym typeface="Inter"/>
              </a:rPr>
              <a:t>heuristic relevance · cheap · tunes config</a:t>
            </a:r>
            <a:endParaRPr sz="135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5573018" y="2751683"/>
            <a:ext cx="270658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Known-item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573018" y="2965995"/>
            <a:ext cx="270658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1013" dirty="0">
                <a:solidFill>
                  <a:srgbClr val="64748B"/>
                </a:solidFill>
                <a:ea typeface="Inter"/>
                <a:cs typeface="Inter"/>
                <a:sym typeface="Inter"/>
              </a:rPr>
              <a:t>provenance relevance · objective · headline result</a:t>
            </a:r>
            <a:endParaRPr sz="135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1771651"/>
            <a:ext cx="114300" cy="36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571500" y="2439589"/>
            <a:ext cx="114300" cy="36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3411140"/>
            <a:ext cx="114300" cy="363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428625"/>
            <a:ext cx="8401050" cy="4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38" b="1" dirty="0">
                <a:solidFill>
                  <a:srgbClr val="0B192C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Known-item retrieval - method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964407"/>
            <a:ext cx="8001000" cy="19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38" i="1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Work package: Performance Evaluation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1507332"/>
            <a:ext cx="42799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Provenance-based ground truth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2491705"/>
            <a:ext cx="42799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Query set</a:t>
            </a:r>
            <a:endParaRPr sz="1350" b="1" dirty="0">
              <a:solidFill>
                <a:srgbClr val="0D9488"/>
              </a:solidFill>
              <a:latin typeface="Poppins" panose="00000500000000000000" pitchFamily="2" charset="0"/>
              <a:ea typeface="Inter"/>
              <a:cs typeface="Poppins" panose="00000500000000000000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3615516"/>
            <a:ext cx="42799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Metrics</a:t>
            </a:r>
            <a:endParaRPr sz="1350" b="1" dirty="0">
              <a:solidFill>
                <a:srgbClr val="0D9488"/>
              </a:solidFill>
              <a:latin typeface="Poppins" panose="00000500000000000000" pitchFamily="2" charset="0"/>
              <a:ea typeface="Inter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570D22-37BF-4035-16B4-5E36F8CD078E}"/>
              </a:ext>
            </a:extLst>
          </p:cNvPr>
          <p:cNvGrpSpPr/>
          <p:nvPr/>
        </p:nvGrpSpPr>
        <p:grpSpPr>
          <a:xfrm>
            <a:off x="5351561" y="1990726"/>
            <a:ext cx="3292376" cy="1721643"/>
            <a:chOff x="5280124" y="1507332"/>
            <a:chExt cx="3292376" cy="1721643"/>
          </a:xfrm>
        </p:grpSpPr>
        <p:pic>
          <p:nvPicPr>
            <p:cNvPr id="85" name="Google Shape;85;p1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80124" y="1507332"/>
              <a:ext cx="3292376" cy="172164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91" name="Google Shape;91;p13"/>
            <p:cNvSpPr txBox="1"/>
            <p:nvPr/>
          </p:nvSpPr>
          <p:spPr>
            <a:xfrm>
              <a:off x="5573018" y="1800225"/>
              <a:ext cx="2706588" cy="190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238" b="1" dirty="0">
                  <a:solidFill>
                    <a:srgbClr val="0D9488"/>
                  </a:solidFill>
                  <a:latin typeface="Poppins" panose="00000500000000000000" pitchFamily="2" charset="0"/>
                  <a:ea typeface="Inter"/>
                  <a:cs typeface="Poppins" panose="00000500000000000000" pitchFamily="2" charset="0"/>
                  <a:sym typeface="Inter"/>
                </a:rPr>
                <a:t>Why this design</a:t>
              </a:r>
              <a:endParaRPr sz="135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5573018" y="2128838"/>
              <a:ext cx="2706588" cy="7790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1100" dirty="0">
                  <a:solidFill>
                    <a:srgbClr val="1E293B"/>
                  </a:solidFill>
                  <a:ea typeface="Inter"/>
                  <a:cs typeface="Inter"/>
                  <a:sym typeface="Inter"/>
                </a:rPr>
                <a:t>Ground truth comes from how each query was built 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1100" dirty="0">
                  <a:solidFill>
                    <a:srgbClr val="1E293B"/>
                  </a:solidFill>
                  <a:ea typeface="Inter"/>
                  <a:cs typeface="Inter"/>
                  <a:sym typeface="Inter"/>
                </a:rPr>
                <a:t>no human relevance judgements needed</a:t>
              </a:r>
              <a:r>
                <a:rPr lang="en-US" sz="1125" dirty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1350" dirty="0"/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771525" y="1800225"/>
            <a:ext cx="4079974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00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Each query was generated (with Gemini) from a specific source paper; that paper is the one known-relevant document.</a:t>
            </a:r>
            <a:endParaRPr sz="120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771525" y="2843196"/>
            <a:ext cx="4079974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00" dirty="0">
                <a:solidFill>
                  <a:srgbClr val="334155"/>
                </a:solidFill>
                <a:ea typeface="Inter"/>
                <a:sym typeface="Inter"/>
              </a:rPr>
              <a:t>4 phrasings per paper - keyword, task, problem, natural - × 479 papers ≈ 1,916 queries.</a:t>
            </a:r>
            <a:endParaRPr sz="1100" dirty="0">
              <a:solidFill>
                <a:srgbClr val="334155"/>
              </a:solidFill>
              <a:ea typeface="Inter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71525" y="3942105"/>
            <a:ext cx="4079974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36"/>
              </a:lnSpc>
            </a:pPr>
            <a:r>
              <a:rPr lang="en-US" sz="1100" dirty="0">
                <a:solidFill>
                  <a:srgbClr val="334155"/>
                </a:solidFill>
                <a:ea typeface="Inter"/>
                <a:sym typeface="Inter"/>
              </a:rPr>
              <a:t>Rank of the source paper → Mean Reciprocal Rank(MRR), </a:t>
            </a:r>
            <a:r>
              <a:rPr lang="en-US" sz="1100" dirty="0" err="1">
                <a:solidFill>
                  <a:srgbClr val="334155"/>
                </a:solidFill>
                <a:ea typeface="Inter"/>
                <a:sym typeface="Inter"/>
              </a:rPr>
              <a:t>Recall@K</a:t>
            </a:r>
            <a:r>
              <a:rPr lang="en-US" sz="1100" dirty="0">
                <a:solidFill>
                  <a:srgbClr val="334155"/>
                </a:solidFill>
                <a:ea typeface="Inter"/>
                <a:sym typeface="Inter"/>
              </a:rPr>
              <a:t>, NDCG@K. </a:t>
            </a:r>
            <a:endParaRPr sz="1100" dirty="0">
              <a:solidFill>
                <a:srgbClr val="334155"/>
              </a:solidFill>
              <a:ea typeface="Inter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1785938"/>
            <a:ext cx="114300" cy="33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98" name="Google Shape;98;p13"/>
          <p:cNvSpPr txBox="1"/>
          <p:nvPr/>
        </p:nvSpPr>
        <p:spPr>
          <a:xfrm>
            <a:off x="571500" y="2830154"/>
            <a:ext cx="114300" cy="33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75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3907293"/>
            <a:ext cx="114300" cy="33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75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F17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four query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four? Real users search very differently - we test robustness to phrasing.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1965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search terms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417320"/>
            <a:ext cx="5532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14173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1" dirty="0">
                <a:solidFill>
                  <a:srgbClr val="334155"/>
                </a:solidFill>
              </a:rPr>
              <a:t>“knowledge distillation sleep monitoring electrocardiogram”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1732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472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33172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0F76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64261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goal to accomplish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2240280"/>
            <a:ext cx="5532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59152" y="22402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1" dirty="0">
                <a:solidFill>
                  <a:srgbClr val="334155"/>
                </a:solidFill>
              </a:rPr>
              <a:t>“improve sleep stage classification using single-channel heart-rate data”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2402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22951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14600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0F76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632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15468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F59E0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465576"/>
            <a:ext cx="14356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difficulty to overcome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063240"/>
            <a:ext cx="5532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59152" y="306324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1" dirty="0">
                <a:solidFill>
                  <a:srgbClr val="334155"/>
                </a:solidFill>
              </a:rPr>
              <a:t>“how to overcome low diagnostic accuracy in wearable monitors without brain waves”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06324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31181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337560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F59E0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397764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28853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full question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886200"/>
            <a:ext cx="5532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59152" y="3886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1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sz="1150" b="0" i="1" dirty="0">
                <a:solidFill>
                  <a:srgbClr val="334155"/>
                </a:solidFill>
                <a:cs typeface="Poppins" panose="00000500000000000000" pitchFamily="2" charset="0"/>
              </a:rPr>
              <a:t>Are there ways to train a cardiac sleep-scoring model by transferring knowledge from brain-wave models?”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88620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0" y="3941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160520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49724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1" dirty="0">
                <a:solidFill>
                  <a:srgbClr val="64748B"/>
                </a:solidFill>
              </a:rPr>
              <a:t>Same paper (</a:t>
            </a:r>
            <a:r>
              <a:rPr sz="1100" b="0" i="1" dirty="0" err="1">
                <a:solidFill>
                  <a:srgbClr val="64748B"/>
                </a:solidFill>
              </a:rPr>
              <a:t>arXiv</a:t>
            </a:r>
            <a:r>
              <a:rPr sz="1100" b="0" i="1" dirty="0">
                <a:solidFill>
                  <a:srgbClr val="64748B"/>
                </a:solidFill>
              </a:rPr>
              <a:t> 2112.07252), four phrasings generated with Gemini - very different difficulty: keyword/natural land it at rank 1, the abstractive “problem” phrasing at 85.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Known-item  Results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114037"/>
              </p:ext>
            </p:extLst>
          </p:nvPr>
        </p:nvGraphicFramePr>
        <p:xfrm>
          <a:off x="365760" y="1371600"/>
          <a:ext cx="7810976" cy="29626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4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Query type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Recall@5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Recall@10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Recall@20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NDCG@10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Median rank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7DF2"/>
                          </a:solidFill>
                        </a:rPr>
                        <a:t>SPECTER2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0.518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0.605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0.702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7DF2"/>
                          </a:solidFill>
                        </a:rPr>
                        <a:t>SPECTER2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0.305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0.395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0.484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0.257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7DF2"/>
                          </a:solidFill>
                        </a:rPr>
                        <a:t>SPECTER2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0.217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0.269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0.334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0.184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53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7DF2"/>
                          </a:solidFill>
                        </a:rPr>
                        <a:t>SPECTER2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Natural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0.649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0.704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0.787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0.562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8C00"/>
                          </a:solidFill>
                        </a:rPr>
                        <a:t>SciBERT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0.013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0.023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0.044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0.011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2839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8C00"/>
                          </a:solidFill>
                        </a:rPr>
                        <a:t>SciBERT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0.015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0.027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0.042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0.013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2531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8C00"/>
                          </a:solidFill>
                        </a:rPr>
                        <a:t>SciBERT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0.027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0.042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0.056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0.021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3535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8C00"/>
                          </a:solidFill>
                        </a:rPr>
                        <a:t>SciBERT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Natural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0.073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0.104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0.125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0.058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</a:rPr>
                        <a:t>767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SPECTER2 cell dominates its SciBERT counterpart. Natural-language queries are strongest (median rank 2 of ~50,000); abstractive “problem” phrasings are hardest.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Known-item - SPECTER2 wins decisively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Recall@10 by query type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35033919"/>
              </p:ext>
            </p:extLst>
          </p:nvPr>
        </p:nvGraphicFramePr>
        <p:xfrm>
          <a:off x="365760" y="141732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6916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~10–14×
</a:t>
            </a:r>
            <a:endParaRPr lang="en-US" sz="2400" dirty="0"/>
          </a:p>
          <a:p>
            <a:pPr marL="0" indent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SPECTER2's overall lead over SciBERT across ranking metrics.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035040" y="30632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4E6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is trained for document similarity; SciBERT is a general scientific LM and collapses on this retrieval task.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BADE9233-F660-F544-F2BD-A9437843A6F8}"/>
              </a:ext>
            </a:extLst>
          </p:cNvPr>
          <p:cNvSpPr/>
          <p:nvPr/>
        </p:nvSpPr>
        <p:spPr>
          <a:xfrm>
            <a:off x="5852160" y="1467283"/>
            <a:ext cx="2858670" cy="31332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Hybrid late-fusion - results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Known-item MRR as the SPECTER2 weight varies - peak at w = 0.9</a:t>
            </a:r>
            <a:endParaRPr lang="en-US"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76771498"/>
              </p:ext>
            </p:extLst>
          </p:nvPr>
        </p:nvGraphicFramePr>
        <p:xfrm>
          <a:off x="365760" y="1463040"/>
          <a:ext cx="53949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55448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but real lift</a:t>
            </a:r>
          </a:p>
          <a:p>
            <a:pPr marL="0" indent="0" algn="ctr">
              <a:spcAft>
                <a:spcPts val="400"/>
              </a:spcAft>
              <a:buNone/>
            </a:pPr>
            <a:endParaRPr lang="en-US" sz="1400" dirty="0">
              <a:solidFill>
                <a:srgbClr val="0D9488"/>
              </a:solidFill>
            </a:endParaRP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Best blend at 90% SPECTER2 / 10% SciBERT: overall MRR 0.329 → 0.334.</a:t>
            </a: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Driven by natural queries (0.526 → 0.543); keyword/task stay flat.</a:t>
            </a:r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Below ~80% SPECTER2 the weaker model drags results down sharply</a:t>
            </a:r>
            <a:r>
              <a:rPr lang="en-US" sz="1200" dirty="0">
                <a:solidFill>
                  <a:srgbClr val="1A2333"/>
                </a:solidFill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endParaRPr lang="en-US" sz="1200" dirty="0">
              <a:solidFill>
                <a:srgbClr val="1A2333"/>
              </a:solidFill>
              <a:cs typeface="Calibri" pitchFamily="34" charset="-12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FF0000"/>
                </a:solidFill>
                <a:cs typeface="Calibri" pitchFamily="34" charset="-120"/>
              </a:rPr>
              <a:t>NDCG@10 increased slightly from 0.562 to 0.578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482578"/>
            <a:ext cx="82867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235869"/>
            <a:ext cx="4000500" cy="2032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5" y="1235869"/>
            <a:ext cx="4000500" cy="2032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5813" y="4868465"/>
            <a:ext cx="2143125" cy="27503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42938" y="1450182"/>
            <a:ext cx="375046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07BF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My evaluation (NDCG@10)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42938" y="1835944"/>
            <a:ext cx="3571875" cy="121800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" name="Google Shape;90;p13"/>
          <p:cNvGraphicFramePr/>
          <p:nvPr>
            <p:extLst>
              <p:ext uri="{D42A27DB-BD31-4B8C-83A1-F6EECF244321}">
                <p14:modId xmlns:p14="http://schemas.microsoft.com/office/powerpoint/2010/main" val="449064794"/>
              </p:ext>
            </p:extLst>
          </p:nvPr>
        </p:nvGraphicFramePr>
        <p:xfrm>
          <a:off x="642938" y="1835944"/>
          <a:ext cx="3571876" cy="12180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8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9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Inter SemiBold"/>
                          <a:cs typeface="Poppins" panose="00000500000000000000" pitchFamily="2" charset="0"/>
                          <a:sym typeface="Inter SemiBold"/>
                        </a:rPr>
                        <a:t>SPECTER2</a:t>
                      </a:r>
                      <a:endParaRPr sz="1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 dirty="0" err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Inter SemiBold"/>
                          <a:cs typeface="Poppins" panose="00000500000000000000" pitchFamily="2" charset="0"/>
                          <a:sym typeface="Inter SemiBold"/>
                        </a:rPr>
                        <a:t>SciBERT</a:t>
                      </a:r>
                      <a:endParaRPr sz="1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Inter Medium"/>
                          <a:cs typeface="Inter Medium"/>
                          <a:sym typeface="Inter Medium"/>
                        </a:rPr>
                        <a:t>Known-item (natural)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7BFF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0.562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94A3B8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0.058</a:t>
                      </a:r>
                      <a:endParaRPr sz="140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334155"/>
                          </a:solidFill>
                          <a:latin typeface="+mn-lt"/>
                          <a:ea typeface="Inter Medium"/>
                          <a:cs typeface="Inter Medium"/>
                          <a:sym typeface="Inter Medium"/>
                        </a:rPr>
                        <a:t>Proxy (temporal)</a:t>
                      </a:r>
                      <a:endParaRPr sz="140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7BFF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0.120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94A3B8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0.051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4929188" y="1450182"/>
            <a:ext cx="375046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 err="1">
                <a:solidFill>
                  <a:srgbClr val="F97316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SciDocs</a:t>
            </a:r>
            <a:r>
              <a:rPr lang="en-US" sz="1350" b="1" dirty="0">
                <a:solidFill>
                  <a:srgbClr val="F97316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benchmark (</a:t>
            </a:r>
            <a:r>
              <a:rPr lang="en-US" sz="1350" b="1" dirty="0" err="1">
                <a:solidFill>
                  <a:srgbClr val="F97316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nDCG</a:t>
            </a:r>
            <a:r>
              <a:rPr lang="en-US" sz="1350" b="1" dirty="0">
                <a:solidFill>
                  <a:srgbClr val="F97316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)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4929188" y="1835944"/>
            <a:ext cx="3571875" cy="121800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3"/>
          <p:cNvGraphicFramePr/>
          <p:nvPr>
            <p:extLst>
              <p:ext uri="{D42A27DB-BD31-4B8C-83A1-F6EECF244321}">
                <p14:modId xmlns:p14="http://schemas.microsoft.com/office/powerpoint/2010/main" val="87464405"/>
              </p:ext>
            </p:extLst>
          </p:nvPr>
        </p:nvGraphicFramePr>
        <p:xfrm>
          <a:off x="4929188" y="1835944"/>
          <a:ext cx="3571876" cy="12180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8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9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Inter SemiBold"/>
                          <a:cs typeface="Poppins" panose="00000500000000000000" pitchFamily="2" charset="0"/>
                          <a:sym typeface="Inter SemiBold"/>
                        </a:rPr>
                        <a:t>SPECTER</a:t>
                      </a:r>
                      <a:endParaRPr sz="1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cap="none" dirty="0" err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Inter SemiBold"/>
                          <a:cs typeface="Poppins" panose="00000500000000000000" pitchFamily="2" charset="0"/>
                          <a:sym typeface="Inter SemiBold"/>
                        </a:rPr>
                        <a:t>SciBERT</a:t>
                      </a:r>
                      <a:endParaRPr sz="1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Inter Medium"/>
                          <a:cs typeface="Inter Medium"/>
                          <a:sym typeface="Inter Medium"/>
                        </a:rPr>
                        <a:t>Recommendation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97316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0.539</a:t>
                      </a:r>
                      <a:endParaRPr sz="140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94A3B8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0.521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Inter Medium"/>
                          <a:cs typeface="Inter Medium"/>
                          <a:sym typeface="Inter Medium"/>
                        </a:rPr>
                        <a:t>Co-View (full ranking)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F97316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0.915</a:t>
                      </a: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94A3B8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0.731</a:t>
                      </a:r>
                      <a:endParaRPr sz="1400" dirty="0">
                        <a:latin typeface="+mn-lt"/>
                      </a:endParaRPr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4" name="Google Shape;94;p13"/>
          <p:cNvSpPr/>
          <p:nvPr/>
        </p:nvSpPr>
        <p:spPr>
          <a:xfrm>
            <a:off x="642937" y="2193132"/>
            <a:ext cx="1785938" cy="714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929187" y="2193132"/>
            <a:ext cx="1785938" cy="714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42937" y="2621757"/>
            <a:ext cx="17859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2428875" y="2621757"/>
            <a:ext cx="892969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3321844" y="2621757"/>
            <a:ext cx="892969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4929187" y="2621757"/>
            <a:ext cx="17859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6715125" y="2621757"/>
            <a:ext cx="892969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608094" y="2621757"/>
            <a:ext cx="892969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28625" y="357187"/>
            <a:ext cx="8701088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 dirty="0">
                <a:solidFill>
                  <a:srgbClr val="001F3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Our results vs. </a:t>
            </a:r>
            <a:r>
              <a:rPr lang="en-US" sz="2363" b="1" dirty="0" err="1">
                <a:solidFill>
                  <a:srgbClr val="001F3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SciDocs</a:t>
            </a:r>
            <a:r>
              <a:rPr lang="en-US" sz="2363" b="1" dirty="0">
                <a:solidFill>
                  <a:srgbClr val="001F3F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 - a consistent finding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13" y="1485900"/>
            <a:ext cx="3333675" cy="2786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0169" y="1707356"/>
            <a:ext cx="2890763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0169" y="2321719"/>
            <a:ext cx="2890763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0169" y="2936081"/>
            <a:ext cx="2890763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0169" y="3550444"/>
            <a:ext cx="2890763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86262"/>
            <a:ext cx="8001000" cy="3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71500" y="428626"/>
            <a:ext cx="84010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 dirty="0">
                <a:solidFill>
                  <a:srgbClr val="0F172A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Experiment tracking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921544"/>
            <a:ext cx="800100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 dirty="0">
                <a:solidFill>
                  <a:srgbClr val="64748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Work package: Experiments Logging - Weights &amp; Biases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1485900"/>
            <a:ext cx="437550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50" b="1" dirty="0">
                <a:solidFill>
                  <a:srgbClr val="0D9488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Everything logged &amp; reproducible</a:t>
            </a:r>
            <a:endParaRPr sz="1350" dirty="0">
              <a:solidFill>
                <a:srgbClr val="0D948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85812" y="1871663"/>
            <a:ext cx="3952838" cy="51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4947"/>
              </a:lnSpc>
            </a:pP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Every proxy run - model, distance, α value, per-category - logged to W&amp;B with its config and metrics.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85812" y="2463700"/>
            <a:ext cx="3952838" cy="51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4947"/>
              </a:lnSpc>
            </a:pP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Results exported to CSV and read directly by the dashboard's Evaluation tab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85812" y="3055739"/>
            <a:ext cx="3952838" cy="51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4947"/>
              </a:lnSpc>
            </a:pPr>
            <a:r>
              <a:rPr lang="en-US" sz="1069" dirty="0">
                <a:solidFill>
                  <a:srgbClr val="334155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Makes the configuration choices auditable: anyone can trace why cosine, why α = 0.03, why SPECTER2.</a:t>
            </a:r>
            <a:endParaRPr sz="13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645907" y="1882378"/>
            <a:ext cx="1078706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× distance</a:t>
            </a:r>
            <a:endParaRPr sz="1350"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07895" y="1843088"/>
            <a:ext cx="127873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5645907" y="2496741"/>
            <a:ext cx="535781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α sweep</a:t>
            </a:r>
            <a:endParaRPr sz="1350"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2132" y="2457450"/>
            <a:ext cx="166449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5645906" y="3111103"/>
            <a:ext cx="814388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Per-category</a:t>
            </a:r>
            <a:endParaRPr sz="1350"/>
          </a:p>
        </p:txBody>
      </p:sp>
      <p:pic>
        <p:nvPicPr>
          <p:cNvPr id="102" name="Google Shape;10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15013" y="3071813"/>
            <a:ext cx="147161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5645907" y="3725466"/>
            <a:ext cx="635794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13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Restricted</a:t>
            </a:r>
            <a:endParaRPr sz="1350"/>
          </a:p>
        </p:txBody>
      </p:sp>
      <p:pic>
        <p:nvPicPr>
          <p:cNvPr id="104" name="Google Shape;10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6426" y="3686175"/>
            <a:ext cx="1600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571500" y="1857375"/>
            <a:ext cx="85725" cy="34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4974"/>
              </a:lnSpc>
            </a:pPr>
            <a:r>
              <a:rPr lang="en-US" sz="1463" b="1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571500" y="2449413"/>
            <a:ext cx="85725" cy="34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4974"/>
              </a:lnSpc>
            </a:pPr>
            <a:r>
              <a:rPr lang="en-US" sz="1463" b="1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571500" y="3041451"/>
            <a:ext cx="85725" cy="34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4974"/>
              </a:lnSpc>
            </a:pPr>
            <a:r>
              <a:rPr lang="en-US" sz="1463" b="1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D7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System &amp; Reflection</a:t>
            </a:r>
            <a:endParaRPr lang="en-US" sz="3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F17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 package: Frontend Application </a:t>
            </a:r>
            <a:r>
              <a:rPr lang="en-US"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450" b="0" i="0" dirty="0" err="1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Streamlit</a:t>
            </a:r>
            <a:endParaRPr sz="1450" b="0" i="0" dirty="0">
              <a:solidFill>
                <a:srgbClr val="64748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1472184"/>
            <a:ext cx="365760" cy="36576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6432" y="1585112"/>
            <a:ext cx="139903" cy="139903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747211" y="1620865"/>
            <a:ext cx="78346" cy="0"/>
          </a:xfrm>
          <a:prstGeom prst="line">
            <a:avLst/>
          </a:prstGeom>
          <a:ln w="1778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7211" y="1655064"/>
            <a:ext cx="78346" cy="0"/>
          </a:xfrm>
          <a:prstGeom prst="line">
            <a:avLst/>
          </a:prstGeom>
          <a:ln w="1778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7211" y="1689263"/>
            <a:ext cx="78346" cy="0"/>
          </a:xfrm>
          <a:prstGeom prst="line">
            <a:avLst/>
          </a:prstGeom>
          <a:ln w="1778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" y="137160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Browse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37160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334155"/>
                </a:solidFill>
              </a:rPr>
              <a:t>Filter &amp; sort the full corpus </a:t>
            </a:r>
            <a:r>
              <a:rPr lang="en-US" sz="1050" b="0" i="0" dirty="0">
                <a:solidFill>
                  <a:srgbClr val="334155"/>
                </a:solidFill>
              </a:rPr>
              <a:t>-</a:t>
            </a:r>
            <a:r>
              <a:rPr sz="1050" b="0" i="0" dirty="0">
                <a:solidFill>
                  <a:srgbClr val="334155"/>
                </a:solidFill>
              </a:rPr>
              <a:t> no query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2112264"/>
            <a:ext cx="365760" cy="36576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712546" y="2221306"/>
            <a:ext cx="147675" cy="147675"/>
          </a:xfrm>
          <a:prstGeom prst="star5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01168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01168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dirty="0">
                <a:solidFill>
                  <a:srgbClr val="334155"/>
                </a:solidFill>
              </a:rPr>
              <a:t>Title or free-text search, with the “why” breakdown.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03504" y="2752344"/>
            <a:ext cx="365760" cy="36576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1095" y="2950768"/>
            <a:ext cx="24871" cy="4974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6175" y="2915015"/>
            <a:ext cx="24871" cy="854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1255" y="2879262"/>
            <a:ext cx="24871" cy="12124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26517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65176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dirty="0">
                <a:solidFill>
                  <a:srgbClr val="334155"/>
                </a:solidFill>
              </a:rPr>
              <a:t>Corpus stats, citation trends, embedding-space maps</a:t>
            </a:r>
            <a:r>
              <a:rPr sz="1050" b="0" i="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9184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03504" y="3392424"/>
            <a:ext cx="365760" cy="36576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0318" y="3542659"/>
            <a:ext cx="132130" cy="65288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753351" y="3542660"/>
            <a:ext cx="0" cy="21763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" y="3542660"/>
            <a:ext cx="0" cy="21763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9417" y="3542660"/>
            <a:ext cx="0" cy="21763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96112" y="329184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29184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dirty="0">
                <a:solidFill>
                  <a:srgbClr val="334155"/>
                </a:solidFill>
              </a:rPr>
              <a:t>Known-item, proxy &amp; hybrid results from the files</a:t>
            </a:r>
            <a:r>
              <a:rPr sz="1050" b="0" i="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03504" y="4032504"/>
            <a:ext cx="365760" cy="36576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20318" y="4172635"/>
            <a:ext cx="132130" cy="85496"/>
          </a:xfrm>
          <a:prstGeom prst="roundRect">
            <a:avLst>
              <a:gd name="adj" fmla="val 25000"/>
            </a:avLst>
          </a:prstGeom>
          <a:noFill/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1459" y="4202948"/>
            <a:ext cx="24871" cy="24871"/>
          </a:xfrm>
          <a:prstGeom prst="ellipse">
            <a:avLst/>
          </a:prstGeom>
          <a:noFill/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393192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Info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393192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dirty="0">
                <a:solidFill>
                  <a:srgbClr val="334155"/>
                </a:solidFill>
              </a:rPr>
              <a:t>Pipeline, models, work-package coverage</a:t>
            </a:r>
            <a:r>
              <a:rPr sz="1050" b="0" i="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1371600"/>
            <a:ext cx="2606040" cy="3035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086600" y="1828800"/>
            <a:ext cx="603504" cy="6035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86600" y="182880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2697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26974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LIVE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29184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2563EB"/>
                </a:solidFill>
                <a:latin typeface="Inter"/>
              </a:rPr>
              <a:t>Recommendations + Evaluation tabs, on the running app.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Inter"/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 i="0" dirty="0">
                <a:solidFill>
                  <a:srgbClr val="64748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 package: Kubernetes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120640" cy="3017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4608576" cy="2688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2000"/>
              </a:lnSpc>
              <a:spcBef>
                <a:spcPts val="500"/>
              </a:spcBef>
              <a:spcAft>
                <a:spcPts val="300"/>
              </a:spcAft>
            </a:pPr>
            <a:r>
              <a:rPr sz="1300" b="1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GPU compute</a:t>
            </a:r>
          </a:p>
          <a:p>
            <a:pPr marL="171450" indent="-171450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sz="1050" b="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Embeddings generated on an NVIDIA A100 GPU pod on a Kubernetes cluster (PVC-backed storage).</a:t>
            </a:r>
            <a:endParaRPr lang="en-US" sz="1050" b="0" dirty="0">
              <a:solidFill>
                <a:srgbClr val="33415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endParaRPr sz="1100" b="0" dirty="0">
              <a:solidFill>
                <a:srgbClr val="334155"/>
              </a:solidFill>
              <a:latin typeface="Inter"/>
            </a:endParaRPr>
          </a:p>
          <a:p>
            <a:pPr>
              <a:lnSpc>
                <a:spcPct val="112000"/>
              </a:lnSpc>
              <a:spcBef>
                <a:spcPts val="500"/>
              </a:spcBef>
              <a:spcAft>
                <a:spcPts val="300"/>
              </a:spcAft>
            </a:pPr>
            <a:r>
              <a:rPr sz="1300" b="1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Reproducible environment</a:t>
            </a:r>
          </a:p>
          <a:p>
            <a:pPr marL="171450" indent="-171450">
              <a:lnSpc>
                <a:spcPct val="112000"/>
              </a:lnSpc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sz="1050" dirty="0" err="1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Dockerised</a:t>
            </a:r>
            <a:r>
              <a:rPr sz="105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app; pinned requirements (Python 3.13); secrets via .env  no keys in code.</a:t>
            </a:r>
            <a:endParaRPr lang="en-US" sz="1050" dirty="0">
              <a:solidFill>
                <a:srgbClr val="33415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endParaRPr sz="1100" b="0" dirty="0">
              <a:solidFill>
                <a:srgbClr val="334155"/>
              </a:solidFill>
              <a:latin typeface="Inter"/>
            </a:endParaRPr>
          </a:p>
          <a:p>
            <a:pPr>
              <a:lnSpc>
                <a:spcPct val="112000"/>
              </a:lnSpc>
              <a:spcBef>
                <a:spcPts val="500"/>
              </a:spcBef>
              <a:spcAft>
                <a:spcPts val="300"/>
              </a:spcAft>
            </a:pPr>
            <a:r>
              <a:rPr sz="1300" b="1" dirty="0">
                <a:solidFill>
                  <a:srgbClr val="0D948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Workflow</a:t>
            </a:r>
          </a:p>
          <a:p>
            <a:pPr marL="171450" indent="-171450">
              <a:lnSpc>
                <a:spcPct val="112000"/>
              </a:lnSpc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sz="105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Heavy jobs (embeddings, experiments) on the cluster; the </a:t>
            </a:r>
            <a:r>
              <a:rPr sz="1050" dirty="0" err="1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Streamlit</a:t>
            </a:r>
            <a:r>
              <a:rPr sz="105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app runs on CPU from the saved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4173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07024" y="1563624"/>
            <a:ext cx="272491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563EB"/>
                </a:solidFill>
                <a:latin typeface="Inter"/>
              </a:rPr>
              <a:t>A100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874520"/>
            <a:ext cx="27249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Inter"/>
              </a:rPr>
              <a:t>GPU 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459735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07024" y="2606039"/>
            <a:ext cx="272491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766E"/>
                </a:solidFill>
                <a:latin typeface="Inter"/>
              </a:rPr>
              <a:t>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4" y="2916935"/>
            <a:ext cx="27249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Inter"/>
              </a:rPr>
              <a:t>embedding dim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50215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07024" y="3648454"/>
            <a:ext cx="272491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59E0B"/>
                </a:solidFill>
                <a:latin typeface="Inter"/>
              </a:rPr>
              <a:t>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3959350"/>
            <a:ext cx="27249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Inter"/>
              </a:rPr>
              <a:t>+ Kubernetes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263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Work-package coverage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11 delivered · all 5 mandatory done</a:t>
            </a:r>
            <a:endParaRPr lang="en-US" sz="13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160767"/>
              </p:ext>
            </p:extLst>
          </p:nvPr>
        </p:nvGraphicFramePr>
        <p:xfrm>
          <a:off x="457200" y="1325880"/>
          <a:ext cx="8229600" cy="312724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 package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Mandatory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Data Scraping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arXiv API + Semantic Scholar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Data Annotation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Automated labels + dictionary tags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Data Quality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Dedup, mojibake, validation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Kubernetes Cluster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A100 GPU pod (PVC)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Experiments Logging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Weights &amp; Biases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Vector Embeddings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SPECTER2 + SciBERT (+ hybrid)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Hyperparameter Tuning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α sweep (knee 0.03)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Recommender System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Cosine + category boost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Performance Evaluation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Known-item + proxy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Perturbation Analysis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</a:rPr>
                        <a:t>Not done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Optional — not attempted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Frontend Application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Done</a:t>
                      </a:r>
                      <a:endParaRPr lang="en-US" sz="1050" dirty="0">
                        <a:solidFill>
                          <a:srgbClr val="0D9488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</a:rPr>
                        <a:t>Streamlit (5 tabs)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0F17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697480" cy="2880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6974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545336"/>
            <a:ext cx="218541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2563E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2240280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End-to-end system on 49,992 papers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SPECTER2, </a:t>
            </a:r>
            <a:r>
              <a:rPr lang="en-US" sz="1100" dirty="0" err="1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SciBERT</a:t>
            </a:r>
            <a:r>
              <a:rPr lang="en-US"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&amp; hybrid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Transparent recommender + 5-tab app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 of 11 work packages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325880"/>
            <a:ext cx="2697480" cy="2880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10712" y="1325880"/>
            <a:ext cx="2697480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1545336"/>
            <a:ext cx="218541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 dirty="0">
                <a:solidFill>
                  <a:srgbClr val="0F76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Found</a:t>
            </a:r>
            <a:endParaRPr sz="1700" b="1" i="0" dirty="0">
              <a:solidFill>
                <a:srgbClr val="0F766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66744" y="2103120"/>
            <a:ext cx="2240280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SPECTER2 wins by ~10–14×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α = 0.03 boost ≈ category restriction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90/10 hybrid: small real lift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Best on natural-language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25880"/>
            <a:ext cx="2697480" cy="2880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2784" y="1325880"/>
            <a:ext cx="26974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1545336"/>
            <a:ext cx="218541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F59E0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103120"/>
            <a:ext cx="2240280" cy="1965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Click-through </a:t>
            </a:r>
            <a:r>
              <a:rPr sz="1100" dirty="0" err="1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personalisation</a:t>
            </a:r>
            <a:endParaRPr sz="1100" dirty="0">
              <a:solidFill>
                <a:srgbClr val="33415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FAISS for larger corpora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Perturbation analysis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33415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Human-validated eval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8092440" cy="566928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7635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i="1" dirty="0">
                <a:latin typeface="Poppins" panose="00000500000000000000" pitchFamily="2" charset="0"/>
                <a:cs typeface="Poppins" panose="00000500000000000000" pitchFamily="2" charset="0"/>
              </a:rPr>
              <a:t>SPECTER2 is the right embedding for content-based academic recommendation - shown across a known-item test, proxy experiments, and a hybrid study.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39F27-703A-0BF6-AD0A-AD815621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113"/>
            <a:ext cx="9144000" cy="411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8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9340F-F6FE-365A-B191-9C5FFFD0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275"/>
            <a:ext cx="9144000" cy="391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21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3C3B6-7FBE-0CA3-520C-3E72A24D8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544"/>
            <a:ext cx="9144000" cy="436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15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F8384-F7C3-256B-71EC-A5268B6F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362"/>
            <a:ext cx="9144000" cy="418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21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65B03D-6CAD-08EB-190F-78CD15F0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192"/>
            <a:ext cx="9144000" cy="42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67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80088-E860-5DB8-0216-F38A35BF9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922"/>
            <a:ext cx="9144000" cy="432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87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625FF-91E8-A329-DCC2-436306F62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769"/>
            <a:ext cx="9144000" cy="385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55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47160-7072-A2C6-F2C8-BA590356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324"/>
            <a:ext cx="9144000" cy="427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79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6AFD48-E1D2-0C25-D7E9-56A598786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453"/>
            <a:ext cx="9144000" cy="37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589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3BE4C-BC63-2C80-FDF5-9DF50388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838"/>
            <a:ext cx="9144000" cy="43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158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491C-A0F3-F942-56A5-AD68ECB4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29C859-B7E0-6586-AAC0-CB9F07B29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990"/>
            <a:ext cx="9144000" cy="381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048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F580-E836-A49B-A736-3FC608A8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A6871-B8B5-A4DC-24B4-72B425BCB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768"/>
            <a:ext cx="9144000" cy="412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76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2967</Words>
  <Application>Microsoft Office PowerPoint</Application>
  <PresentationFormat>On-screen Show (16:9)</PresentationFormat>
  <Paragraphs>565</Paragraphs>
  <Slides>52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Calibri</vt:lpstr>
      <vt:lpstr>Inter</vt:lpstr>
      <vt:lpstr>Inter Medium</vt:lpstr>
      <vt:lpstr>Inter SemiBold</vt:lpstr>
      <vt:lpstr>Lato</vt:lpstr>
      <vt:lpstr>Poppins</vt:lpstr>
      <vt:lpstr>Poppins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Paper Recommendation System</dc:title>
  <dc:subject>PptxGenJS Presentation</dc:subject>
  <dc:creator>Master's thesis</dc:creator>
  <cp:lastModifiedBy>Tajamal Hussain</cp:lastModifiedBy>
  <cp:revision>40</cp:revision>
  <dcterms:created xsi:type="dcterms:W3CDTF">2026-06-25T08:38:48Z</dcterms:created>
  <dcterms:modified xsi:type="dcterms:W3CDTF">2026-07-03T17:19:21Z</dcterms:modified>
</cp:coreProperties>
</file>